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49F5CA-6B95-4829-A877-B35EAF1FB4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F4701D-066C-408B-A57F-161BC599F506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6858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Week 4</a:t>
            </a:r>
          </a:p>
          <a:p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Progress Report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AE3500-E3DC-40AE-9B2C-CD40EBEA5FBD}"/>
              </a:ext>
            </a:extLst>
          </p:cNvPr>
          <p:cNvSpPr>
            <a:spLocks noGrp="1"/>
          </p:cNvSpPr>
          <p:nvPr/>
        </p:nvSpPr>
        <p:spPr>
          <a:xfrm>
            <a:off x="552450" y="29718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E6F1E4"/>
                </a:solidFill>
              </a:defRPr>
            </a:pPr>
            <a:r>
              <a:rPr sz="1800" b="0">
                <a:solidFill>
                  <a:srgbClr val="E6F1E4"/>
                </a:solidFill>
              </a:rPr>
              <a:t>HE Toolkit Dashboard | 21-27 June + Recent GitHub Updates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C04B2F-48E0-4D32-90DB-0E0FCC35EC4F}"/>
              </a:ext>
            </a:extLst>
          </p:cNvPr>
          <p:cNvSpPr>
            <a:spLocks noGrp="1"/>
          </p:cNvSpPr>
          <p:nvPr/>
        </p:nvSpPr>
        <p:spPr>
          <a:xfrm>
            <a:off x="552450" y="35242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D5E9D2"/>
                </a:solidFill>
              </a:defRPr>
            </a:pPr>
            <a:r>
              <a:rPr sz="1350" b="0" dirty="0">
                <a:solidFill>
                  <a:srgbClr val="D5E9D2"/>
                </a:solidFill>
              </a:rPr>
              <a:t>Monday Meeting</a:t>
            </a:r>
            <a:r>
              <a:rPr lang="zh-CN" altLang="en-US" sz="1350" b="0" dirty="0">
                <a:solidFill>
                  <a:srgbClr val="D5E9D2"/>
                </a:solidFill>
              </a:rPr>
              <a:t> </a:t>
            </a:r>
            <a:r>
              <a:rPr lang="en-US" altLang="zh-CN" sz="1350" b="0" dirty="0">
                <a:solidFill>
                  <a:srgbClr val="D5E9D2"/>
                </a:solidFill>
              </a:rPr>
              <a:t>with</a:t>
            </a:r>
            <a:r>
              <a:rPr lang="zh-CN" altLang="en-US" sz="1350" b="0" dirty="0">
                <a:solidFill>
                  <a:srgbClr val="D5E9D2"/>
                </a:solidFill>
              </a:rPr>
              <a:t> </a:t>
            </a:r>
            <a:r>
              <a:rPr lang="en-US" altLang="zh-CN" sz="1350" b="0" dirty="0">
                <a:solidFill>
                  <a:srgbClr val="D5E9D2"/>
                </a:solidFill>
              </a:rPr>
              <a:t>Professor</a:t>
            </a:r>
            <a:r>
              <a:rPr lang="zh-CN" altLang="en-US" sz="1350" b="0" dirty="0">
                <a:solidFill>
                  <a:srgbClr val="D5E9D2"/>
                </a:solidFill>
              </a:rPr>
              <a:t> </a:t>
            </a:r>
            <a:r>
              <a:rPr lang="en-GB" altLang="zh-CN" sz="1350" b="0" dirty="0">
                <a:solidFill>
                  <a:srgbClr val="D5E9D2"/>
                </a:solidFill>
              </a:rPr>
              <a:t>Ruzanna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D3C08C-F568-4FF2-9838-0816D2E33728}"/>
              </a:ext>
            </a:extLst>
          </p:cNvPr>
          <p:cNvSpPr>
            <a:spLocks noGrp="1"/>
          </p:cNvSpPr>
          <p:nvPr/>
        </p:nvSpPr>
        <p:spPr>
          <a:xfrm>
            <a:off x="8096250" y="1143000"/>
            <a:ext cx="3143250" cy="4000500"/>
          </a:xfrm>
          <a:prstGeom prst="rect">
            <a:avLst/>
          </a:prstGeom>
          <a:solidFill>
            <a:srgbClr val="FFFFFF">
              <a:alpha val="13333"/>
            </a:srgbClr>
          </a:solidFill>
          <a:ln w="9525">
            <a:solidFill>
              <a:srgbClr val="FFFFFF">
                <a:alpha val="3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BFE3F-8ABD-4D18-9A54-484874ADC457}"/>
              </a:ext>
            </a:extLst>
          </p:cNvPr>
          <p:cNvSpPr>
            <a:spLocks noGrp="1"/>
          </p:cNvSpPr>
          <p:nvPr/>
        </p:nvSpPr>
        <p:spPr>
          <a:xfrm>
            <a:off x="8420100" y="15049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Core theme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BEC180-D8B5-4C40-A1B1-29CF9A14A486}"/>
              </a:ext>
            </a:extLst>
          </p:cNvPr>
          <p:cNvSpPr>
            <a:spLocks noGrp="1"/>
          </p:cNvSpPr>
          <p:nvPr/>
        </p:nvSpPr>
        <p:spPr>
          <a:xfrm>
            <a:off x="8420100" y="2000249"/>
            <a:ext cx="2476500" cy="21251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 dirty="0">
                <a:solidFill>
                  <a:srgbClr val="FFFFFF"/>
                </a:solidFill>
              </a:rPr>
              <a:t>From clarified requirements</a:t>
            </a:r>
          </a:p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 dirty="0">
                <a:solidFill>
                  <a:srgbClr val="FFFFFF"/>
                </a:solidFill>
              </a:rPr>
              <a:t>to a task-oriented workflow</a:t>
            </a:r>
          </a:p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 dirty="0">
                <a:solidFill>
                  <a:srgbClr val="FFFFFF"/>
                </a:solidFill>
              </a:rPr>
              <a:t>with testable evidence.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843F23-7933-41E6-B219-37919D335467}"/>
              </a:ext>
            </a:extLst>
          </p:cNvPr>
          <p:cNvSpPr>
            <a:spLocks noGrp="1"/>
          </p:cNvSpPr>
          <p:nvPr/>
        </p:nvSpPr>
        <p:spPr>
          <a:xfrm>
            <a:off x="8420100" y="4362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6F1E4"/>
                </a:solidFill>
              </a:defRPr>
            </a:pPr>
            <a:r>
              <a:rPr sz="1125" b="0">
                <a:solidFill>
                  <a:srgbClr val="E6F1E4"/>
                </a:solidFill>
              </a:rPr>
              <a:t>Prepared for supervisor discussion</a:t>
            </a:r>
          </a:p>
        </p:txBody>
      </p:sp>
    </p:spTree>
    <p:extLst>
      <p:ext uri="{BB962C8B-B14F-4D97-AF65-F5344CB8AC3E}">
        <p14:creationId xmlns:p14="http://schemas.microsoft.com/office/powerpoint/2010/main" val="143073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C54FEBF-4614-4592-B64E-4DE40070FA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26DBD7-4FF6-4295-81AB-5ADE17B9BBB0}"/>
              </a:ext>
            </a:extLst>
          </p:cNvPr>
          <p:cNvSpPr>
            <a:spLocks noGrp="1"/>
          </p:cNvSpPr>
          <p:nvPr/>
        </p:nvSpPr>
        <p:spPr>
          <a:xfrm>
            <a:off x="400050" y="1619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HE Toolkit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0DC918-EBC5-4E66-AFBF-10D223BB31B7}"/>
              </a:ext>
            </a:extLst>
          </p:cNvPr>
          <p:cNvSpPr>
            <a:spLocks noGrp="1"/>
          </p:cNvSpPr>
          <p:nvPr/>
        </p:nvSpPr>
        <p:spPr>
          <a:xfrm>
            <a:off x="9906000" y="171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DDEADC"/>
                </a:solidFill>
              </a:defRPr>
            </a:pPr>
            <a:r>
              <a:rPr sz="1050" b="0">
                <a:solidFill>
                  <a:srgbClr val="DDEADC"/>
                </a:solidFill>
              </a:rPr>
              <a:t>Week 4 Progress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9C4B52-CBF0-4431-B544-10731D8CA435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Week 4 at a glance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1B48B1-F2C7-4413-975D-B1D1924774EA}"/>
              </a:ext>
            </a:extLst>
          </p:cNvPr>
          <p:cNvSpPr>
            <a:spLocks noGrp="1"/>
          </p:cNvSpPr>
          <p:nvPr/>
        </p:nvSpPr>
        <p:spPr>
          <a:xfrm>
            <a:off x="419100" y="13239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572"/>
                </a:solidFill>
              </a:defRPr>
            </a:pPr>
            <a:r>
              <a:rPr sz="1350" b="0">
                <a:solidFill>
                  <a:srgbClr val="5B6572"/>
                </a:solidFill>
              </a:rPr>
              <a:t>Four workstreams moved the project from broad scope to evidence-backed delivery.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EB1D9F-2A26-428B-9F96-652BEE8377DD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B6572"/>
                </a:solidFill>
              </a:defRPr>
            </a:pPr>
            <a:r>
              <a:rPr sz="1050" b="0">
                <a:solidFill>
                  <a:srgbClr val="5B6572"/>
                </a:solidFill>
              </a:rPr>
              <a:t>02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6ADCA7-8E7D-4CBF-9C7B-C02F93428A67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4762500" cy="1123950"/>
          </a:xfrm>
          <a:prstGeom prst="roundRect">
            <a:avLst>
              <a:gd name="adj" fmla="val 6780"/>
            </a:avLst>
          </a:prstGeom>
          <a:solidFill>
            <a:srgbClr val="E8F5EA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EDA9C-31F8-40ED-9039-E6F52C4B4F76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Requirements refinement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DC34A0-6B54-4270-AF7D-E90924CB75EF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4419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572"/>
                </a:solidFill>
              </a:defRPr>
            </a:pPr>
            <a:r>
              <a:rPr sz="1200" b="0">
                <a:solidFill>
                  <a:srgbClr val="5B6572"/>
                </a:solidFill>
              </a:rPr>
              <a:t>Client feedback converted into clearer must-have priorities.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93335BC-2C4B-4E89-8191-EED326F58CAE}"/>
              </a:ext>
            </a:extLst>
          </p:cNvPr>
          <p:cNvSpPr>
            <a:spLocks noGrp="1"/>
          </p:cNvSpPr>
          <p:nvPr/>
        </p:nvSpPr>
        <p:spPr>
          <a:xfrm>
            <a:off x="6038850" y="2190750"/>
            <a:ext cx="4762500" cy="1123950"/>
          </a:xfrm>
          <a:prstGeom prst="roundRect">
            <a:avLst>
              <a:gd name="adj" fmla="val 6780"/>
            </a:avLst>
          </a:prstGeom>
          <a:solidFill>
            <a:srgbClr val="F7F8F6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31719A-7C21-42E0-88C5-47B711B80CD2}"/>
              </a:ext>
            </a:extLst>
          </p:cNvPr>
          <p:cNvSpPr>
            <a:spLocks noGrp="1"/>
          </p:cNvSpPr>
          <p:nvPr/>
        </p:nvSpPr>
        <p:spPr>
          <a:xfrm>
            <a:off x="6210300" y="23431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Workflow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3728D4-6BBB-43AF-BE36-4289C67C6484}"/>
              </a:ext>
            </a:extLst>
          </p:cNvPr>
          <p:cNvSpPr>
            <a:spLocks noGrp="1"/>
          </p:cNvSpPr>
          <p:nvPr/>
        </p:nvSpPr>
        <p:spPr>
          <a:xfrm>
            <a:off x="6210300" y="2705100"/>
            <a:ext cx="4419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572"/>
                </a:solidFill>
              </a:defRPr>
            </a:pPr>
            <a:r>
              <a:rPr sz="1200" b="0">
                <a:solidFill>
                  <a:srgbClr val="5B6572"/>
                </a:solidFill>
              </a:rPr>
              <a:t>Dashboard direction shifted toward user goals and guided task entry.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784F055-4803-4E9B-BBF1-61B21473B538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1123950"/>
          </a:xfrm>
          <a:prstGeom prst="roundRect">
            <a:avLst>
              <a:gd name="adj" fmla="val 6780"/>
            </a:avLst>
          </a:prstGeom>
          <a:solidFill>
            <a:srgbClr val="F7F8F6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CC8A1B-A2D9-43F3-99FA-426BC395CDA4}"/>
              </a:ext>
            </a:extLst>
          </p:cNvPr>
          <p:cNvSpPr>
            <a:spLocks noGrp="1"/>
          </p:cNvSpPr>
          <p:nvPr/>
        </p:nvSpPr>
        <p:spPr>
          <a:xfrm>
            <a:off x="781050" y="38671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Audit and testing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2448F8-03DA-47EA-AD68-F14FA30F36F0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4419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572"/>
                </a:solidFill>
              </a:defRPr>
            </a:pPr>
            <a:r>
              <a:rPr sz="1200" b="0">
                <a:solidFill>
                  <a:srgbClr val="5B6572"/>
                </a:solidFill>
              </a:rPr>
              <a:t>Existing dashboard workflow was walked through end to end.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48451C8-B9C3-40BA-8087-AE13C849CDCD}"/>
              </a:ext>
            </a:extLst>
          </p:cNvPr>
          <p:cNvSpPr>
            <a:spLocks noGrp="1"/>
          </p:cNvSpPr>
          <p:nvPr/>
        </p:nvSpPr>
        <p:spPr>
          <a:xfrm>
            <a:off x="6038850" y="3714750"/>
            <a:ext cx="4762500" cy="1123950"/>
          </a:xfrm>
          <a:prstGeom prst="roundRect">
            <a:avLst>
              <a:gd name="adj" fmla="val 6780"/>
            </a:avLst>
          </a:prstGeom>
          <a:solidFill>
            <a:srgbClr val="F7F8F6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EC968D-C5B0-4264-B89D-1E2AE3A7D1C9}"/>
              </a:ext>
            </a:extLst>
          </p:cNvPr>
          <p:cNvSpPr>
            <a:spLocks noGrp="1"/>
          </p:cNvSpPr>
          <p:nvPr/>
        </p:nvSpPr>
        <p:spPr>
          <a:xfrm>
            <a:off x="6210300" y="38671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Evaluation planning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46F356-AAFD-4C9F-80E1-B2D2FFA19F39}"/>
              </a:ext>
            </a:extLst>
          </p:cNvPr>
          <p:cNvSpPr>
            <a:spLocks noGrp="1"/>
          </p:cNvSpPr>
          <p:nvPr/>
        </p:nvSpPr>
        <p:spPr>
          <a:xfrm>
            <a:off x="6210300" y="4229100"/>
            <a:ext cx="4419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572"/>
                </a:solidFill>
              </a:defRPr>
            </a:pPr>
            <a:r>
              <a:rPr sz="1200" b="0">
                <a:solidFill>
                  <a:srgbClr val="5B6572"/>
                </a:solidFill>
              </a:rPr>
              <a:t>Volunteer user testing approach became more concrete.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2F4D8F-623B-4A54-B581-101752EC056C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572750" cy="19050"/>
          </a:xfrm>
          <a:prstGeom prst="rect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4600D2-60F2-4E46-ACE8-259EA061DD68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E6B3E"/>
                </a:solidFill>
              </a:defRPr>
            </a:pPr>
            <a:r>
              <a:rPr sz="1800" b="1">
                <a:solidFill>
                  <a:srgbClr val="2E6B3E"/>
                </a:solidFill>
              </a:rPr>
              <a:t>Takeaway: the project direction is now clearer, more user-centred, and easier to validate.</a:t>
            </a:r>
          </a:p>
        </p:txBody>
      </p:sp>
    </p:spTree>
    <p:extLst>
      <p:ext uri="{BB962C8B-B14F-4D97-AF65-F5344CB8AC3E}">
        <p14:creationId xmlns:p14="http://schemas.microsoft.com/office/powerpoint/2010/main" val="2145609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D5ECA5A-9908-4E28-9F83-8800F9F1A3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8AC959-6954-471E-8FE0-114D5802AED1}"/>
              </a:ext>
            </a:extLst>
          </p:cNvPr>
          <p:cNvSpPr>
            <a:spLocks noGrp="1"/>
          </p:cNvSpPr>
          <p:nvPr/>
        </p:nvSpPr>
        <p:spPr>
          <a:xfrm>
            <a:off x="400050" y="1619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HE Toolkit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39BF0C-F81D-4E0D-97E4-2278CF9E4984}"/>
              </a:ext>
            </a:extLst>
          </p:cNvPr>
          <p:cNvSpPr>
            <a:spLocks noGrp="1"/>
          </p:cNvSpPr>
          <p:nvPr/>
        </p:nvSpPr>
        <p:spPr>
          <a:xfrm>
            <a:off x="9906000" y="171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DDEADC"/>
                </a:solidFill>
              </a:defRPr>
            </a:pPr>
            <a:r>
              <a:rPr sz="1050" b="0">
                <a:solidFill>
                  <a:srgbClr val="DDEADC"/>
                </a:solidFill>
              </a:rPr>
              <a:t>Week 4 Progress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20DC88-C8A8-4652-B25E-70D864EFC34A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Requirements confirmed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45365D-F130-413D-ACB0-42FE731A1EFE}"/>
              </a:ext>
            </a:extLst>
          </p:cNvPr>
          <p:cNvSpPr>
            <a:spLocks noGrp="1"/>
          </p:cNvSpPr>
          <p:nvPr/>
        </p:nvSpPr>
        <p:spPr>
          <a:xfrm>
            <a:off x="419100" y="13239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572"/>
                </a:solidFill>
              </a:defRPr>
            </a:pPr>
            <a:r>
              <a:rPr sz="1350" b="0">
                <a:solidFill>
                  <a:srgbClr val="5B6572"/>
                </a:solidFill>
              </a:rPr>
              <a:t>Resolved decisions reduce implementation uncertainty before the next build cycle.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04FBA1-B84A-476F-B4BD-208E4AB55E7B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B6572"/>
                </a:solidFill>
              </a:defRPr>
            </a:pPr>
            <a:r>
              <a:rPr sz="1050" b="0">
                <a:solidFill>
                  <a:srgbClr val="5B6572"/>
                </a:solidFill>
              </a:rPr>
              <a:t>03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2417DFE-29EC-48ED-BA61-C1E87C70734B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1219200" cy="304800"/>
          </a:xfrm>
          <a:prstGeom prst="roundRect">
            <a:avLst>
              <a:gd name="adj" fmla="val 50000"/>
            </a:avLst>
          </a:prstGeom>
          <a:solidFill>
            <a:srgbClr val="E8F5EA"/>
          </a:solidFill>
          <a:ln w="9525">
            <a:solidFill>
              <a:srgbClr val="2E6B3E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593352-F692-435B-9601-605DCEFCFEAC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E6B3E"/>
                </a:solidFill>
              </a:defRPr>
            </a:pPr>
            <a:r>
              <a:rPr sz="975" b="1">
                <a:solidFill>
                  <a:srgbClr val="2E6B3E"/>
                </a:solidFill>
              </a:rPr>
              <a:t>Must-have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9AAB44-1AEA-40FC-A452-D39E2E3F63FB}"/>
              </a:ext>
            </a:extLst>
          </p:cNvPr>
          <p:cNvSpPr>
            <a:spLocks noGrp="1"/>
          </p:cNvSpPr>
          <p:nvPr/>
        </p:nvSpPr>
        <p:spPr>
          <a:xfrm>
            <a:off x="2095499" y="2133600"/>
            <a:ext cx="876299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F2933"/>
                </a:solidFill>
              </a:defRPr>
            </a:pPr>
            <a:r>
              <a:rPr sz="1650" b="0" dirty="0">
                <a:solidFill>
                  <a:srgbClr val="1F2933"/>
                </a:solidFill>
              </a:rPr>
              <a:t>Modelling views, model summaries, and regression plots are now treated as required functionality.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A24C03-2114-4934-90DA-539F21B4BFBB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1219200" cy="304800"/>
          </a:xfrm>
          <a:prstGeom prst="roundRect">
            <a:avLst>
              <a:gd name="adj" fmla="val 50000"/>
            </a:avLst>
          </a:prstGeom>
          <a:solidFill>
            <a:srgbClr val="E8F5EA"/>
          </a:solidFill>
          <a:ln w="9525">
            <a:solidFill>
              <a:srgbClr val="2E6B3E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AD58BD-9695-4860-A678-2222573C52C9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1066800" cy="1546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E6B3E"/>
                </a:solidFill>
              </a:defRPr>
            </a:pPr>
            <a:r>
              <a:rPr sz="975" b="1" dirty="0">
                <a:solidFill>
                  <a:srgbClr val="2E6B3E"/>
                </a:solidFill>
              </a:rPr>
              <a:t>Input strategy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491D7-8D54-41FF-97FC-3B97F44DFA41}"/>
              </a:ext>
            </a:extLst>
          </p:cNvPr>
          <p:cNvSpPr>
            <a:spLocks noGrp="1"/>
          </p:cNvSpPr>
          <p:nvPr/>
        </p:nvSpPr>
        <p:spPr>
          <a:xfrm>
            <a:off x="2095500" y="29908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F2933"/>
                </a:solidFill>
              </a:defRPr>
            </a:pPr>
            <a:r>
              <a:rPr sz="1650" b="0" dirty="0">
                <a:solidFill>
                  <a:srgbClr val="1F2933"/>
                </a:solidFill>
              </a:rPr>
              <a:t>CSV-first upload remains the safer route because it aligns with existing HE Toolkit import functions.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849AA2-D308-41AE-A984-1CE08488E95B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1219200" cy="304800"/>
          </a:xfrm>
          <a:prstGeom prst="roundRect">
            <a:avLst>
              <a:gd name="adj" fmla="val 50000"/>
            </a:avLst>
          </a:prstGeom>
          <a:solidFill>
            <a:srgbClr val="E8F5EA"/>
          </a:solidFill>
          <a:ln w="9525">
            <a:solidFill>
              <a:srgbClr val="2E6B3E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5EB877-788C-402E-BF31-DC2C73FAE41E}"/>
              </a:ext>
            </a:extLst>
          </p:cNvPr>
          <p:cNvSpPr>
            <a:spLocks noGrp="1"/>
          </p:cNvSpPr>
          <p:nvPr/>
        </p:nvSpPr>
        <p:spPr>
          <a:xfrm>
            <a:off x="742950" y="3924300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E6B3E"/>
                </a:solidFill>
              </a:defRPr>
            </a:pPr>
            <a:r>
              <a:rPr sz="975" b="1">
                <a:solidFill>
                  <a:srgbClr val="2E6B3E"/>
                </a:solidFill>
              </a:rPr>
              <a:t>Clarified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0E1C74-D5B5-452D-BD5B-28892361E141}"/>
              </a:ext>
            </a:extLst>
          </p:cNvPr>
          <p:cNvSpPr>
            <a:spLocks noGrp="1"/>
          </p:cNvSpPr>
          <p:nvPr/>
        </p:nvSpPr>
        <p:spPr>
          <a:xfrm>
            <a:off x="2095500" y="384810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F2933"/>
                </a:solidFill>
              </a:defRPr>
            </a:pPr>
            <a:r>
              <a:rPr sz="1650" b="0" dirty="0">
                <a:solidFill>
                  <a:srgbClr val="1F2933"/>
                </a:solidFill>
              </a:rPr>
              <a:t>WQ/RHS handling and O:E ratio questions have been confirmed and are no longer open risks.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0D529B4-3CCC-4925-9269-F7BB1D948579}"/>
              </a:ext>
            </a:extLst>
          </p:cNvPr>
          <p:cNvSpPr>
            <a:spLocks noGrp="1"/>
          </p:cNvSpPr>
          <p:nvPr/>
        </p:nvSpPr>
        <p:spPr>
          <a:xfrm>
            <a:off x="7239000" y="4953000"/>
            <a:ext cx="3619500" cy="1085850"/>
          </a:xfrm>
          <a:prstGeom prst="roundRect">
            <a:avLst>
              <a:gd name="adj" fmla="val 9756"/>
            </a:avLst>
          </a:prstGeom>
          <a:solidFill>
            <a:srgbClr val="F7F8F6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1FACE1-EA7B-4646-ADB6-9C400B114FA4}"/>
              </a:ext>
            </a:extLst>
          </p:cNvPr>
          <p:cNvSpPr>
            <a:spLocks noGrp="1"/>
          </p:cNvSpPr>
          <p:nvPr/>
        </p:nvSpPr>
        <p:spPr>
          <a:xfrm>
            <a:off x="7524750" y="5124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Effect on delivery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42D7D0-A2FD-4814-9318-F623EE3DE732}"/>
              </a:ext>
            </a:extLst>
          </p:cNvPr>
          <p:cNvSpPr>
            <a:spLocks noGrp="1"/>
          </p:cNvSpPr>
          <p:nvPr/>
        </p:nvSpPr>
        <p:spPr>
          <a:xfrm>
            <a:off x="7524749" y="5410200"/>
            <a:ext cx="317160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572"/>
                </a:solidFill>
              </a:defRPr>
            </a:pPr>
            <a:r>
              <a:rPr sz="1200" b="0" dirty="0">
                <a:solidFill>
                  <a:srgbClr val="5B6572"/>
                </a:solidFill>
              </a:rPr>
              <a:t>Less ambiguity before implementation planning.</a:t>
            </a:r>
          </a:p>
        </p:txBody>
      </p:sp>
    </p:spTree>
    <p:extLst>
      <p:ext uri="{BB962C8B-B14F-4D97-AF65-F5344CB8AC3E}">
        <p14:creationId xmlns:p14="http://schemas.microsoft.com/office/powerpoint/2010/main" val="39367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747CCDA-9D21-4D8D-92C4-F95F6256DF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CF7ED5-7EE0-4E1E-8CED-7A61D858534D}"/>
              </a:ext>
            </a:extLst>
          </p:cNvPr>
          <p:cNvSpPr>
            <a:spLocks noGrp="1"/>
          </p:cNvSpPr>
          <p:nvPr/>
        </p:nvSpPr>
        <p:spPr>
          <a:xfrm>
            <a:off x="400050" y="1619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HE Toolkit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2F540E-244B-40D4-8041-97CFA62A4E47}"/>
              </a:ext>
            </a:extLst>
          </p:cNvPr>
          <p:cNvSpPr>
            <a:spLocks noGrp="1"/>
          </p:cNvSpPr>
          <p:nvPr/>
        </p:nvSpPr>
        <p:spPr>
          <a:xfrm>
            <a:off x="9906000" y="171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DDEADC"/>
                </a:solidFill>
              </a:defRPr>
            </a:pPr>
            <a:r>
              <a:rPr sz="1050" b="0">
                <a:solidFill>
                  <a:srgbClr val="DDEADC"/>
                </a:solidFill>
              </a:rPr>
              <a:t>Week 4 Progress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23B2F-00F5-4D3C-8B86-3764B79EBD46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Task-oriented workflow direction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2C4872-C363-4E6F-9427-602F3D9D28F9}"/>
              </a:ext>
            </a:extLst>
          </p:cNvPr>
          <p:cNvSpPr>
            <a:spLocks noGrp="1"/>
          </p:cNvSpPr>
          <p:nvPr/>
        </p:nvSpPr>
        <p:spPr>
          <a:xfrm>
            <a:off x="419100" y="13239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572"/>
                </a:solidFill>
              </a:defRPr>
            </a:pPr>
            <a:r>
              <a:rPr sz="1350" b="0">
                <a:solidFill>
                  <a:srgbClr val="5B6572"/>
                </a:solidFill>
              </a:rPr>
              <a:t>The design moves from technical function order to user goal-based task entry.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FC49-F07F-429F-ACD8-F1C79966EB8F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B6572"/>
                </a:solidFill>
              </a:defRPr>
            </a:pPr>
            <a:r>
              <a:rPr sz="1050" b="0">
                <a:solidFill>
                  <a:srgbClr val="5B6572"/>
                </a:solidFill>
              </a:rPr>
              <a:t>04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61F928A-DB03-4BA9-9F40-E8A48A879BC6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3429000" cy="2114550"/>
          </a:xfrm>
          <a:prstGeom prst="roundRect">
            <a:avLst>
              <a:gd name="adj" fmla="val 3604"/>
            </a:avLst>
          </a:prstGeom>
          <a:solidFill>
            <a:srgbClr val="FFF1EF"/>
          </a:solidFill>
          <a:ln w="9525">
            <a:solidFill>
              <a:srgbClr val="E5B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CAEBE6-B54A-453E-A46C-BA71EF84D48E}"/>
              </a:ext>
            </a:extLst>
          </p:cNvPr>
          <p:cNvSpPr>
            <a:spLocks noGrp="1"/>
          </p:cNvSpPr>
          <p:nvPr/>
        </p:nvSpPr>
        <p:spPr>
          <a:xfrm>
            <a:off x="1047750" y="25146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B83A2F"/>
                </a:solidFill>
              </a:defRPr>
            </a:pPr>
            <a:r>
              <a:rPr sz="1800" b="1">
                <a:solidFill>
                  <a:srgbClr val="B83A2F"/>
                </a:solidFill>
              </a:rPr>
              <a:t>Before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C027F7-E214-49C2-AE5D-71552E062287}"/>
              </a:ext>
            </a:extLst>
          </p:cNvPr>
          <p:cNvSpPr>
            <a:spLocks noGrp="1"/>
          </p:cNvSpPr>
          <p:nvPr/>
        </p:nvSpPr>
        <p:spPr>
          <a:xfrm>
            <a:off x="1047750" y="3000375"/>
            <a:ext cx="271462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Function-based tabs</a:t>
            </a:r>
          </a:p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Users need to understand the underlying R process before reaching useful outputs.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7B8734E-729B-4999-9E0E-6F80BF6AA88F}"/>
              </a:ext>
            </a:extLst>
          </p:cNvPr>
          <p:cNvSpPr>
            <a:spLocks noGrp="1"/>
          </p:cNvSpPr>
          <p:nvPr/>
        </p:nvSpPr>
        <p:spPr>
          <a:xfrm>
            <a:off x="4524375" y="3171825"/>
            <a:ext cx="2190750" cy="0"/>
          </a:xfrm>
          <a:prstGeom prst="line">
            <a:avLst/>
          </a:prstGeom>
          <a:noFill/>
          <a:ln w="19050">
            <a:solidFill>
              <a:srgbClr val="2E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6B95C33-F5E3-46F8-8EC3-7EE582A702DC}"/>
              </a:ext>
            </a:extLst>
          </p:cNvPr>
          <p:cNvSpPr>
            <a:spLocks noGrp="1"/>
          </p:cNvSpPr>
          <p:nvPr/>
        </p:nvSpPr>
        <p:spPr>
          <a:xfrm>
            <a:off x="7048500" y="2143125"/>
            <a:ext cx="3429000" cy="2114550"/>
          </a:xfrm>
          <a:prstGeom prst="roundRect">
            <a:avLst>
              <a:gd name="adj" fmla="val 3604"/>
            </a:avLst>
          </a:prstGeom>
          <a:solidFill>
            <a:srgbClr val="E8F5EA"/>
          </a:solidFill>
          <a:ln w="9525">
            <a:solidFill>
              <a:srgbClr val="9FC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E7F279-3EA5-4E9B-ABB0-A8FBF9D6BBCB}"/>
              </a:ext>
            </a:extLst>
          </p:cNvPr>
          <p:cNvSpPr>
            <a:spLocks noGrp="1"/>
          </p:cNvSpPr>
          <p:nvPr/>
        </p:nvSpPr>
        <p:spPr>
          <a:xfrm>
            <a:off x="7334250" y="25146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E6B3E"/>
                </a:solidFill>
              </a:defRPr>
            </a:pPr>
            <a:r>
              <a:rPr sz="1800" b="1">
                <a:solidFill>
                  <a:srgbClr val="2E6B3E"/>
                </a:solidFill>
              </a:rPr>
              <a:t>After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7C3635-CE9E-42D2-ACE9-25D64C21E77B}"/>
              </a:ext>
            </a:extLst>
          </p:cNvPr>
          <p:cNvSpPr>
            <a:spLocks noGrp="1"/>
          </p:cNvSpPr>
          <p:nvPr/>
        </p:nvSpPr>
        <p:spPr>
          <a:xfrm>
            <a:off x="7334250" y="3000375"/>
            <a:ext cx="27146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Task-based entry</a:t>
            </a:r>
          </a:p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Users choose the output they need; the dashboard guides inputs, checks, processing, and exports.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9579DB-9C57-43C6-9C34-304107D2F324}"/>
              </a:ext>
            </a:extLst>
          </p:cNvPr>
          <p:cNvSpPr>
            <a:spLocks noGrp="1"/>
          </p:cNvSpPr>
          <p:nvPr/>
        </p:nvSpPr>
        <p:spPr>
          <a:xfrm>
            <a:off x="1143000" y="4953000"/>
            <a:ext cx="495300" cy="495300"/>
          </a:xfrm>
          <a:prstGeom prst="ellipse">
            <a:avLst/>
          </a:prstGeom>
          <a:solidFill>
            <a:srgbClr val="2E6B3E"/>
          </a:solidFill>
          <a:ln w="19050">
            <a:solidFill>
              <a:srgbClr val="2E6B3E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07CB05-2CC7-4385-A1E3-7B2CBBFA7D3E}"/>
              </a:ext>
            </a:extLst>
          </p:cNvPr>
          <p:cNvSpPr>
            <a:spLocks noGrp="1"/>
          </p:cNvSpPr>
          <p:nvPr/>
        </p:nvSpPr>
        <p:spPr>
          <a:xfrm>
            <a:off x="1304925" y="5095875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85FA4D-D9A2-4E19-8961-235CC6063EB0}"/>
              </a:ext>
            </a:extLst>
          </p:cNvPr>
          <p:cNvSpPr>
            <a:spLocks noGrp="1"/>
          </p:cNvSpPr>
          <p:nvPr/>
        </p:nvSpPr>
        <p:spPr>
          <a:xfrm>
            <a:off x="838200" y="5581650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Goal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FE6AF1E-25C0-47EF-889D-2471EA8018DB}"/>
              </a:ext>
            </a:extLst>
          </p:cNvPr>
          <p:cNvSpPr>
            <a:spLocks noGrp="1"/>
          </p:cNvSpPr>
          <p:nvPr/>
        </p:nvSpPr>
        <p:spPr>
          <a:xfrm>
            <a:off x="1695450" y="5200650"/>
            <a:ext cx="1114425" cy="0"/>
          </a:xfrm>
          <a:prstGeom prst="line">
            <a:avLst/>
          </a:prstGeom>
          <a:noFill/>
          <a:ln w="19050">
            <a:solidFill>
              <a:srgbClr val="9DBEA4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2C1A90-05A5-4A21-9417-6C5B57E18010}"/>
              </a:ext>
            </a:extLst>
          </p:cNvPr>
          <p:cNvSpPr>
            <a:spLocks noGrp="1"/>
          </p:cNvSpPr>
          <p:nvPr/>
        </p:nvSpPr>
        <p:spPr>
          <a:xfrm>
            <a:off x="3095625" y="4953000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B3E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A54AC8-1FB0-4FCA-9EFF-45FE79421A69}"/>
              </a:ext>
            </a:extLst>
          </p:cNvPr>
          <p:cNvSpPr>
            <a:spLocks noGrp="1"/>
          </p:cNvSpPr>
          <p:nvPr/>
        </p:nvSpPr>
        <p:spPr>
          <a:xfrm>
            <a:off x="3257550" y="5095875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2E6B3E"/>
                </a:solidFill>
              </a:defRPr>
            </a:pPr>
            <a:r>
              <a:rPr sz="1500" b="1">
                <a:solidFill>
                  <a:srgbClr val="2E6B3E"/>
                </a:solidFill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2B3DA8-1286-482B-815D-D307F742ABE5}"/>
              </a:ext>
            </a:extLst>
          </p:cNvPr>
          <p:cNvSpPr>
            <a:spLocks noGrp="1"/>
          </p:cNvSpPr>
          <p:nvPr/>
        </p:nvSpPr>
        <p:spPr>
          <a:xfrm>
            <a:off x="2790825" y="5581650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Inputs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1D739E48-7E39-4DDA-857D-CC254B167A0E}"/>
              </a:ext>
            </a:extLst>
          </p:cNvPr>
          <p:cNvSpPr>
            <a:spLocks noGrp="1"/>
          </p:cNvSpPr>
          <p:nvPr/>
        </p:nvSpPr>
        <p:spPr>
          <a:xfrm>
            <a:off x="3648075" y="5200650"/>
            <a:ext cx="1114425" cy="0"/>
          </a:xfrm>
          <a:prstGeom prst="line">
            <a:avLst/>
          </a:prstGeom>
          <a:noFill/>
          <a:ln w="19050">
            <a:solidFill>
              <a:srgbClr val="9DBEA4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037676D-0998-47B8-B865-09B954EB192C}"/>
              </a:ext>
            </a:extLst>
          </p:cNvPr>
          <p:cNvSpPr>
            <a:spLocks noGrp="1"/>
          </p:cNvSpPr>
          <p:nvPr/>
        </p:nvSpPr>
        <p:spPr>
          <a:xfrm>
            <a:off x="5048250" y="4953000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B3E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CFD863-2E2D-4412-9901-213E2C8FA046}"/>
              </a:ext>
            </a:extLst>
          </p:cNvPr>
          <p:cNvSpPr>
            <a:spLocks noGrp="1"/>
          </p:cNvSpPr>
          <p:nvPr/>
        </p:nvSpPr>
        <p:spPr>
          <a:xfrm>
            <a:off x="5210175" y="5095875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2E6B3E"/>
                </a:solidFill>
              </a:defRPr>
            </a:pPr>
            <a:r>
              <a:rPr sz="1500" b="1">
                <a:solidFill>
                  <a:srgbClr val="2E6B3E"/>
                </a:solidFill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420233-A835-48EC-A6F3-6D56AB2371DB}"/>
              </a:ext>
            </a:extLst>
          </p:cNvPr>
          <p:cNvSpPr>
            <a:spLocks noGrp="1"/>
          </p:cNvSpPr>
          <p:nvPr/>
        </p:nvSpPr>
        <p:spPr>
          <a:xfrm>
            <a:off x="4743450" y="5581650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Validation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56D12D88-2AAA-417D-A510-02262AFCBD2B}"/>
              </a:ext>
            </a:extLst>
          </p:cNvPr>
          <p:cNvSpPr>
            <a:spLocks noGrp="1"/>
          </p:cNvSpPr>
          <p:nvPr/>
        </p:nvSpPr>
        <p:spPr>
          <a:xfrm>
            <a:off x="5600700" y="5200650"/>
            <a:ext cx="1114425" cy="0"/>
          </a:xfrm>
          <a:prstGeom prst="line">
            <a:avLst/>
          </a:prstGeom>
          <a:noFill/>
          <a:ln w="19050">
            <a:solidFill>
              <a:srgbClr val="9DBEA4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4C0A61F-4694-4C14-8B23-06A90616713C}"/>
              </a:ext>
            </a:extLst>
          </p:cNvPr>
          <p:cNvSpPr>
            <a:spLocks noGrp="1"/>
          </p:cNvSpPr>
          <p:nvPr/>
        </p:nvSpPr>
        <p:spPr>
          <a:xfrm>
            <a:off x="7000875" y="4953000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B3E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D47D7E-3126-4580-9714-49284CA03F47}"/>
              </a:ext>
            </a:extLst>
          </p:cNvPr>
          <p:cNvSpPr>
            <a:spLocks noGrp="1"/>
          </p:cNvSpPr>
          <p:nvPr/>
        </p:nvSpPr>
        <p:spPr>
          <a:xfrm>
            <a:off x="7162800" y="5095875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2E6B3E"/>
                </a:solidFill>
              </a:defRPr>
            </a:pPr>
            <a:r>
              <a:rPr sz="1500" b="1">
                <a:solidFill>
                  <a:srgbClr val="2E6B3E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2E4AD9-F3B6-49A7-909E-15F5D18FDC19}"/>
              </a:ext>
            </a:extLst>
          </p:cNvPr>
          <p:cNvSpPr>
            <a:spLocks noGrp="1"/>
          </p:cNvSpPr>
          <p:nvPr/>
        </p:nvSpPr>
        <p:spPr>
          <a:xfrm>
            <a:off x="6696075" y="5581650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Processing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6E119A1C-CB2A-4A5E-92EE-80236CD95BEF}"/>
              </a:ext>
            </a:extLst>
          </p:cNvPr>
          <p:cNvSpPr>
            <a:spLocks noGrp="1"/>
          </p:cNvSpPr>
          <p:nvPr/>
        </p:nvSpPr>
        <p:spPr>
          <a:xfrm>
            <a:off x="7553325" y="5200650"/>
            <a:ext cx="1114425" cy="0"/>
          </a:xfrm>
          <a:prstGeom prst="line">
            <a:avLst/>
          </a:prstGeom>
          <a:noFill/>
          <a:ln w="19050">
            <a:solidFill>
              <a:srgbClr val="9DBEA4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728C1D8-222C-46FA-96C8-F0318B56A6E9}"/>
              </a:ext>
            </a:extLst>
          </p:cNvPr>
          <p:cNvSpPr>
            <a:spLocks noGrp="1"/>
          </p:cNvSpPr>
          <p:nvPr/>
        </p:nvSpPr>
        <p:spPr>
          <a:xfrm>
            <a:off x="8953500" y="4953000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B3E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1A16EC-598C-4F9C-8E90-E8C7C30A32DE}"/>
              </a:ext>
            </a:extLst>
          </p:cNvPr>
          <p:cNvSpPr>
            <a:spLocks noGrp="1"/>
          </p:cNvSpPr>
          <p:nvPr/>
        </p:nvSpPr>
        <p:spPr>
          <a:xfrm>
            <a:off x="9115425" y="5095875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2E6B3E"/>
                </a:solidFill>
              </a:defRPr>
            </a:pPr>
            <a:r>
              <a:rPr sz="1500" b="1">
                <a:solidFill>
                  <a:srgbClr val="2E6B3E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BBF8008-719C-49E4-816A-2F706EB2E960}"/>
              </a:ext>
            </a:extLst>
          </p:cNvPr>
          <p:cNvSpPr>
            <a:spLocks noGrp="1"/>
          </p:cNvSpPr>
          <p:nvPr/>
        </p:nvSpPr>
        <p:spPr>
          <a:xfrm>
            <a:off x="8648700" y="5581650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78034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A77E33A-0104-40DB-B5FE-D00F44DB39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15B22B-4C17-41D9-8A74-4EF2F535C92C}"/>
              </a:ext>
            </a:extLst>
          </p:cNvPr>
          <p:cNvSpPr>
            <a:spLocks noGrp="1"/>
          </p:cNvSpPr>
          <p:nvPr/>
        </p:nvSpPr>
        <p:spPr>
          <a:xfrm>
            <a:off x="400050" y="1619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HE Toolkit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F63E0D-3EF1-45A2-ACDB-F9BC2FB8E91D}"/>
              </a:ext>
            </a:extLst>
          </p:cNvPr>
          <p:cNvSpPr>
            <a:spLocks noGrp="1"/>
          </p:cNvSpPr>
          <p:nvPr/>
        </p:nvSpPr>
        <p:spPr>
          <a:xfrm>
            <a:off x="9906000" y="171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DDEADC"/>
                </a:solidFill>
              </a:defRPr>
            </a:pPr>
            <a:r>
              <a:rPr sz="1050" b="0">
                <a:solidFill>
                  <a:srgbClr val="DDEADC"/>
                </a:solidFill>
              </a:rPr>
              <a:t>Week 4 Progress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67D893-042B-4C69-AAC3-3D6535C2989D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Dashboard audit and testing findings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842158-B571-4171-8337-C461A281391F}"/>
              </a:ext>
            </a:extLst>
          </p:cNvPr>
          <p:cNvSpPr>
            <a:spLocks noGrp="1"/>
          </p:cNvSpPr>
          <p:nvPr/>
        </p:nvSpPr>
        <p:spPr>
          <a:xfrm>
            <a:off x="419100" y="13239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572"/>
                </a:solidFill>
              </a:defRPr>
            </a:pPr>
            <a:r>
              <a:rPr sz="1350" b="0">
                <a:solidFill>
                  <a:srgbClr val="5B6572"/>
                </a:solidFill>
              </a:rPr>
              <a:t>The existing dashboard can complete the core HE workflow, but usability risks remain.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002455-5634-4A58-83A1-9FA84D00BAC7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B6572"/>
                </a:solidFill>
              </a:defRPr>
            </a:pPr>
            <a:r>
              <a:rPr sz="1050" b="0">
                <a:solidFill>
                  <a:srgbClr val="5B6572"/>
                </a:solidFill>
              </a:rPr>
              <a:t>05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2A326A-B4B5-4285-915C-0F95DA0E28F5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1428750" cy="628650"/>
          </a:xfrm>
          <a:prstGeom prst="roundRect">
            <a:avLst>
              <a:gd name="adj" fmla="val 12121"/>
            </a:avLst>
          </a:prstGeom>
          <a:solidFill>
            <a:srgbClr val="E8F5EA"/>
          </a:solidFill>
          <a:ln w="9525">
            <a:solidFill>
              <a:srgbClr val="A7C9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9F8AED-4FC5-4DB1-B93D-6B1D15D962AF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E6B3E"/>
                </a:solidFill>
              </a:defRPr>
            </a:pPr>
            <a:r>
              <a:rPr sz="1200" b="1">
                <a:solidFill>
                  <a:srgbClr val="2E6B3E"/>
                </a:solidFill>
              </a:rPr>
              <a:t>Import data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48BC9BDE-F27B-4A9E-91F4-FDE65F7B2B4A}"/>
              </a:ext>
            </a:extLst>
          </p:cNvPr>
          <p:cNvSpPr>
            <a:spLocks noGrp="1"/>
          </p:cNvSpPr>
          <p:nvPr/>
        </p:nvSpPr>
        <p:spPr>
          <a:xfrm>
            <a:off x="2038350" y="2457450"/>
            <a:ext cx="295275" cy="0"/>
          </a:xfrm>
          <a:prstGeom prst="line">
            <a:avLst/>
          </a:prstGeom>
          <a:noFill/>
          <a:ln w="19050">
            <a:solidFill>
              <a:srgbClr val="9DB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F3A7F7-3AAB-49FD-97B5-04667707587E}"/>
              </a:ext>
            </a:extLst>
          </p:cNvPr>
          <p:cNvSpPr>
            <a:spLocks noGrp="1"/>
          </p:cNvSpPr>
          <p:nvPr/>
        </p:nvSpPr>
        <p:spPr>
          <a:xfrm>
            <a:off x="2381250" y="2143125"/>
            <a:ext cx="1428750" cy="628650"/>
          </a:xfrm>
          <a:prstGeom prst="roundRect">
            <a:avLst>
              <a:gd name="adj" fmla="val 12121"/>
            </a:avLst>
          </a:prstGeom>
          <a:solidFill>
            <a:srgbClr val="E8F5EA"/>
          </a:solidFill>
          <a:ln w="9525">
            <a:solidFill>
              <a:srgbClr val="A7C9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166617-D148-4ADB-8782-406189C871EB}"/>
              </a:ext>
            </a:extLst>
          </p:cNvPr>
          <p:cNvSpPr>
            <a:spLocks noGrp="1"/>
          </p:cNvSpPr>
          <p:nvPr/>
        </p:nvSpPr>
        <p:spPr>
          <a:xfrm>
            <a:off x="2476500" y="2333625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E6B3E"/>
                </a:solidFill>
              </a:defRPr>
            </a:pPr>
            <a:r>
              <a:rPr sz="1200" b="1">
                <a:solidFill>
                  <a:srgbClr val="2E6B3E"/>
                </a:solidFill>
              </a:rPr>
              <a:t>RICT prediction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FE39EC6-D298-4B49-8211-28DF56B1983E}"/>
              </a:ext>
            </a:extLst>
          </p:cNvPr>
          <p:cNvSpPr>
            <a:spLocks noGrp="1"/>
          </p:cNvSpPr>
          <p:nvPr/>
        </p:nvSpPr>
        <p:spPr>
          <a:xfrm>
            <a:off x="3848100" y="2457450"/>
            <a:ext cx="295275" cy="0"/>
          </a:xfrm>
          <a:prstGeom prst="line">
            <a:avLst/>
          </a:prstGeom>
          <a:noFill/>
          <a:ln w="19050">
            <a:solidFill>
              <a:srgbClr val="9DB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EDAE711-9F56-4B4C-8AA0-812F191D1345}"/>
              </a:ext>
            </a:extLst>
          </p:cNvPr>
          <p:cNvSpPr>
            <a:spLocks noGrp="1"/>
          </p:cNvSpPr>
          <p:nvPr/>
        </p:nvSpPr>
        <p:spPr>
          <a:xfrm>
            <a:off x="4191000" y="2143125"/>
            <a:ext cx="1428750" cy="628650"/>
          </a:xfrm>
          <a:prstGeom prst="roundRect">
            <a:avLst>
              <a:gd name="adj" fmla="val 12121"/>
            </a:avLst>
          </a:prstGeom>
          <a:solidFill>
            <a:srgbClr val="E8F5EA"/>
          </a:solidFill>
          <a:ln w="9525">
            <a:solidFill>
              <a:srgbClr val="A7C9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D91B05-71EE-406C-A55F-E8A3EDEF0FC7}"/>
              </a:ext>
            </a:extLst>
          </p:cNvPr>
          <p:cNvSpPr>
            <a:spLocks noGrp="1"/>
          </p:cNvSpPr>
          <p:nvPr/>
        </p:nvSpPr>
        <p:spPr>
          <a:xfrm>
            <a:off x="4286250" y="2333625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E6B3E"/>
                </a:solidFill>
              </a:defRPr>
            </a:pPr>
            <a:r>
              <a:rPr sz="1200" b="1">
                <a:solidFill>
                  <a:srgbClr val="2E6B3E"/>
                </a:solidFill>
              </a:rPr>
              <a:t>O:E ratio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B364163-D598-40D1-8A6F-1A209ADDE40A}"/>
              </a:ext>
            </a:extLst>
          </p:cNvPr>
          <p:cNvSpPr>
            <a:spLocks noGrp="1"/>
          </p:cNvSpPr>
          <p:nvPr/>
        </p:nvSpPr>
        <p:spPr>
          <a:xfrm>
            <a:off x="5657850" y="2457450"/>
            <a:ext cx="295275" cy="0"/>
          </a:xfrm>
          <a:prstGeom prst="line">
            <a:avLst/>
          </a:prstGeom>
          <a:noFill/>
          <a:ln w="19050">
            <a:solidFill>
              <a:srgbClr val="9DB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7F4AB7E-8ECF-4BA1-BC5A-45E1896F231E}"/>
              </a:ext>
            </a:extLst>
          </p:cNvPr>
          <p:cNvSpPr>
            <a:spLocks noGrp="1"/>
          </p:cNvSpPr>
          <p:nvPr/>
        </p:nvSpPr>
        <p:spPr>
          <a:xfrm>
            <a:off x="6000750" y="2143125"/>
            <a:ext cx="1428750" cy="628650"/>
          </a:xfrm>
          <a:prstGeom prst="roundRect">
            <a:avLst>
              <a:gd name="adj" fmla="val 12121"/>
            </a:avLst>
          </a:prstGeom>
          <a:solidFill>
            <a:srgbClr val="E8F5EA"/>
          </a:solidFill>
          <a:ln w="9525">
            <a:solidFill>
              <a:srgbClr val="A7C9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8A031C-3445-4536-9D35-9467FF5E7314}"/>
              </a:ext>
            </a:extLst>
          </p:cNvPr>
          <p:cNvSpPr>
            <a:spLocks noGrp="1"/>
          </p:cNvSpPr>
          <p:nvPr/>
        </p:nvSpPr>
        <p:spPr>
          <a:xfrm>
            <a:off x="6096000" y="2333625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E6B3E"/>
                </a:solidFill>
              </a:defRPr>
            </a:pPr>
            <a:r>
              <a:rPr sz="1200" b="1">
                <a:solidFill>
                  <a:srgbClr val="2E6B3E"/>
                </a:solidFill>
              </a:rPr>
              <a:t>Flow stats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FBE91652-6F52-48A1-BF21-2267C129713F}"/>
              </a:ext>
            </a:extLst>
          </p:cNvPr>
          <p:cNvSpPr>
            <a:spLocks noGrp="1"/>
          </p:cNvSpPr>
          <p:nvPr/>
        </p:nvSpPr>
        <p:spPr>
          <a:xfrm>
            <a:off x="7467600" y="2457450"/>
            <a:ext cx="295275" cy="0"/>
          </a:xfrm>
          <a:prstGeom prst="line">
            <a:avLst/>
          </a:prstGeom>
          <a:noFill/>
          <a:ln w="19050">
            <a:solidFill>
              <a:srgbClr val="9DB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B482E73-F714-44D0-9149-1C7AC40CD390}"/>
              </a:ext>
            </a:extLst>
          </p:cNvPr>
          <p:cNvSpPr>
            <a:spLocks noGrp="1"/>
          </p:cNvSpPr>
          <p:nvPr/>
        </p:nvSpPr>
        <p:spPr>
          <a:xfrm>
            <a:off x="7810500" y="2143125"/>
            <a:ext cx="1428750" cy="628650"/>
          </a:xfrm>
          <a:prstGeom prst="roundRect">
            <a:avLst>
              <a:gd name="adj" fmla="val 12121"/>
            </a:avLst>
          </a:prstGeom>
          <a:solidFill>
            <a:srgbClr val="E8F5EA"/>
          </a:solidFill>
          <a:ln w="9525">
            <a:solidFill>
              <a:srgbClr val="A7C9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B01130-4C65-43FE-8D44-0A3E5A596517}"/>
              </a:ext>
            </a:extLst>
          </p:cNvPr>
          <p:cNvSpPr>
            <a:spLocks noGrp="1"/>
          </p:cNvSpPr>
          <p:nvPr/>
        </p:nvSpPr>
        <p:spPr>
          <a:xfrm>
            <a:off x="7905750" y="2333625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E6B3E"/>
                </a:solidFill>
              </a:defRPr>
            </a:pPr>
            <a:r>
              <a:rPr sz="1200" b="1">
                <a:solidFill>
                  <a:srgbClr val="2E6B3E"/>
                </a:solidFill>
              </a:rPr>
              <a:t>Join data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F912C3D-2507-49ED-ABFB-CF83C992A049}"/>
              </a:ext>
            </a:extLst>
          </p:cNvPr>
          <p:cNvSpPr>
            <a:spLocks noGrp="1"/>
          </p:cNvSpPr>
          <p:nvPr/>
        </p:nvSpPr>
        <p:spPr>
          <a:xfrm>
            <a:off x="9277350" y="2457450"/>
            <a:ext cx="295275" cy="0"/>
          </a:xfrm>
          <a:prstGeom prst="line">
            <a:avLst/>
          </a:prstGeom>
          <a:noFill/>
          <a:ln w="19050">
            <a:solidFill>
              <a:srgbClr val="9DB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E41AEE0-8E18-43DF-A2FC-30A88FA1E2D4}"/>
              </a:ext>
            </a:extLst>
          </p:cNvPr>
          <p:cNvSpPr>
            <a:spLocks noGrp="1"/>
          </p:cNvSpPr>
          <p:nvPr/>
        </p:nvSpPr>
        <p:spPr>
          <a:xfrm>
            <a:off x="9620250" y="2143125"/>
            <a:ext cx="1428750" cy="628650"/>
          </a:xfrm>
          <a:prstGeom prst="roundRect">
            <a:avLst>
              <a:gd name="adj" fmla="val 12121"/>
            </a:avLst>
          </a:prstGeom>
          <a:solidFill>
            <a:srgbClr val="E8F5EA"/>
          </a:solidFill>
          <a:ln w="9525">
            <a:solidFill>
              <a:srgbClr val="A7C9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A45716-D3A5-4406-A8F1-214FD3BF8708}"/>
              </a:ext>
            </a:extLst>
          </p:cNvPr>
          <p:cNvSpPr>
            <a:spLocks noGrp="1"/>
          </p:cNvSpPr>
          <p:nvPr/>
        </p:nvSpPr>
        <p:spPr>
          <a:xfrm>
            <a:off x="9715500" y="2333625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E6B3E"/>
                </a:solidFill>
              </a:defRPr>
            </a:pPr>
            <a:r>
              <a:rPr sz="1200" b="1">
                <a:solidFill>
                  <a:srgbClr val="2E6B3E"/>
                </a:solidFill>
              </a:rPr>
              <a:t>HEV export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6E2BE4-735E-4653-8D84-EA8ABC21E186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F2933"/>
                </a:solidFill>
              </a:defRPr>
            </a:pPr>
            <a:r>
              <a:rPr sz="1950" b="1">
                <a:solidFill>
                  <a:srgbClr val="1F2933"/>
                </a:solidFill>
              </a:rPr>
              <a:t>Key issues found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39DBB70-54E4-4BFC-95D4-34B7DC4C786B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76200" cy="76200"/>
          </a:xfrm>
          <a:prstGeom prst="ellipse">
            <a:avLst/>
          </a:prstGeom>
          <a:solidFill>
            <a:srgbClr val="C078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C5C764-B117-4062-8F0C-7ED6D8F0ACEA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9124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Raw R errors are sometimes exposed to users.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ABD20F8-6452-48E6-9F1D-CDD9718B182E}"/>
              </a:ext>
            </a:extLst>
          </p:cNvPr>
          <p:cNvSpPr>
            <a:spLocks noGrp="1"/>
          </p:cNvSpPr>
          <p:nvPr/>
        </p:nvSpPr>
        <p:spPr>
          <a:xfrm>
            <a:off x="781050" y="4495800"/>
            <a:ext cx="76200" cy="76200"/>
          </a:xfrm>
          <a:prstGeom prst="ellipse">
            <a:avLst/>
          </a:prstGeom>
          <a:solidFill>
            <a:srgbClr val="C078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9A4C9C-420F-4B41-9F9A-ADDE49F4B3D0}"/>
              </a:ext>
            </a:extLst>
          </p:cNvPr>
          <p:cNvSpPr>
            <a:spLocks noGrp="1"/>
          </p:cNvSpPr>
          <p:nvPr/>
        </p:nvSpPr>
        <p:spPr>
          <a:xfrm>
            <a:off x="990600" y="4419600"/>
            <a:ext cx="9124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Dependency/package errors are not explained clearly.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292D7C1-7DFC-4CB9-82AB-52A11DC34D49}"/>
              </a:ext>
            </a:extLst>
          </p:cNvPr>
          <p:cNvSpPr>
            <a:spLocks noGrp="1"/>
          </p:cNvSpPr>
          <p:nvPr/>
        </p:nvSpPr>
        <p:spPr>
          <a:xfrm>
            <a:off x="781050" y="4819650"/>
            <a:ext cx="76200" cy="76200"/>
          </a:xfrm>
          <a:prstGeom prst="ellipse">
            <a:avLst/>
          </a:prstGeom>
          <a:solidFill>
            <a:srgbClr val="C078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0DCBF9-2CA2-48F9-AEB0-3463EDA88264}"/>
              </a:ext>
            </a:extLst>
          </p:cNvPr>
          <p:cNvSpPr>
            <a:spLocks noGrp="1"/>
          </p:cNvSpPr>
          <p:nvPr/>
        </p:nvSpPr>
        <p:spPr>
          <a:xfrm>
            <a:off x="990600" y="4743450"/>
            <a:ext cx="9124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Some failures risk leaving the app in a loading state.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E215FF-967D-4463-978E-2572A8167685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76200" cy="76200"/>
          </a:xfrm>
          <a:prstGeom prst="ellipse">
            <a:avLst/>
          </a:prstGeom>
          <a:solidFill>
            <a:srgbClr val="C078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8A411A-338D-4776-A845-607F889B0C91}"/>
              </a:ext>
            </a:extLst>
          </p:cNvPr>
          <p:cNvSpPr>
            <a:spLocks noGrp="1"/>
          </p:cNvSpPr>
          <p:nvPr/>
        </p:nvSpPr>
        <p:spPr>
          <a:xfrm>
            <a:off x="990600" y="5067300"/>
            <a:ext cx="9124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Long warning messages are hard to scan.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F96FDC5-C3E4-4043-A180-00A25769E8D2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76200" cy="76200"/>
          </a:xfrm>
          <a:prstGeom prst="ellipse">
            <a:avLst/>
          </a:prstGeom>
          <a:solidFill>
            <a:srgbClr val="C078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40B2C99-8280-42CD-BC4F-B231A9C40BEE}"/>
              </a:ext>
            </a:extLst>
          </p:cNvPr>
          <p:cNvSpPr>
            <a:spLocks noGrp="1"/>
          </p:cNvSpPr>
          <p:nvPr/>
        </p:nvSpPr>
        <p:spPr>
          <a:xfrm>
            <a:off x="990600" y="5391150"/>
            <a:ext cx="9124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Long calculations need clearer progress feedback.</a:t>
            </a:r>
          </a:p>
        </p:txBody>
      </p:sp>
    </p:spTree>
    <p:extLst>
      <p:ext uri="{BB962C8B-B14F-4D97-AF65-F5344CB8AC3E}">
        <p14:creationId xmlns:p14="http://schemas.microsoft.com/office/powerpoint/2010/main" val="210657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1393776-25BC-47A3-A3EA-E3A05252E7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E3C92F-7943-42EA-BD5A-727BF53EB691}"/>
              </a:ext>
            </a:extLst>
          </p:cNvPr>
          <p:cNvSpPr>
            <a:spLocks noGrp="1"/>
          </p:cNvSpPr>
          <p:nvPr/>
        </p:nvSpPr>
        <p:spPr>
          <a:xfrm>
            <a:off x="400050" y="1619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HE Toolkit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2AE2AB-9F7F-41B2-93FA-0225292DFE2E}"/>
              </a:ext>
            </a:extLst>
          </p:cNvPr>
          <p:cNvSpPr>
            <a:spLocks noGrp="1"/>
          </p:cNvSpPr>
          <p:nvPr/>
        </p:nvSpPr>
        <p:spPr>
          <a:xfrm>
            <a:off x="9906000" y="171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DDEADC"/>
                </a:solidFill>
              </a:defRPr>
            </a:pPr>
            <a:r>
              <a:rPr sz="1050" b="0">
                <a:solidFill>
                  <a:srgbClr val="DDEADC"/>
                </a:solidFill>
              </a:rPr>
              <a:t>Week 4 Progress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2539B8-7A77-4E55-8C61-DA0438726D23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F2933"/>
                </a:solidFill>
              </a:defRPr>
            </a:pPr>
            <a:r>
              <a:rPr sz="2850" b="1" dirty="0">
                <a:solidFill>
                  <a:srgbClr val="1F2933"/>
                </a:solidFill>
              </a:rPr>
              <a:t>UI wireframe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67FAAE-F2BD-4351-AE42-BF7D41174348}"/>
              </a:ext>
            </a:extLst>
          </p:cNvPr>
          <p:cNvSpPr>
            <a:spLocks noGrp="1"/>
          </p:cNvSpPr>
          <p:nvPr/>
        </p:nvSpPr>
        <p:spPr>
          <a:xfrm>
            <a:off x="419100" y="13239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572"/>
                </a:solidFill>
              </a:defRPr>
            </a:pPr>
            <a:r>
              <a:rPr sz="1350" b="0">
                <a:solidFill>
                  <a:srgbClr val="5B6572"/>
                </a:solidFill>
              </a:rPr>
              <a:t>PR #8 turns the task-oriented workflow into a concrete interface for discussion.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436757-A9F0-4E4B-B1E0-E93805B4B6AE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B6572"/>
                </a:solidFill>
              </a:defRPr>
            </a:pPr>
            <a:r>
              <a:rPr sz="1050" b="0">
                <a:solidFill>
                  <a:srgbClr val="5B6572"/>
                </a:solidFill>
              </a:rPr>
              <a:t>06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4A4B77-8A29-495D-B2F2-42A2F4159E79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3429000" cy="2857500"/>
          </a:xfrm>
          <a:prstGeom prst="roundRect">
            <a:avLst>
              <a:gd name="adj" fmla="val 2667"/>
            </a:avLst>
          </a:prstGeom>
          <a:solidFill>
            <a:srgbClr val="EEF4FF"/>
          </a:solidFill>
          <a:ln w="9525">
            <a:solidFill>
              <a:srgbClr val="B7C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DDD570-B34C-4C95-9DB1-3AB6D97DA8A2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E5EAA"/>
                </a:solidFill>
              </a:defRPr>
            </a:pPr>
            <a:r>
              <a:rPr sz="1500" b="1">
                <a:solidFill>
                  <a:srgbClr val="2E5EAA"/>
                </a:solidFill>
              </a:rPr>
              <a:t>PR #8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DE444F-1DF2-4D9C-9480-96B2239B8222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308610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572"/>
                </a:solidFill>
              </a:defRPr>
            </a:pPr>
            <a:r>
              <a:rPr sz="1350" b="0">
                <a:solidFill>
                  <a:srgbClr val="5B6572"/>
                </a:solidFill>
              </a:rPr>
              <a:t>Add UI wireframe prototype</a:t>
            </a:r>
          </a:p>
          <a:p>
            <a:endParaRPr sz="1350" b="0">
              <a:solidFill>
                <a:srgbClr val="5B6572"/>
              </a:solidFill>
            </a:endParaRPr>
          </a:p>
          <a:p>
            <a:pPr algn="l">
              <a:defRPr sz="1350" b="0">
                <a:solidFill>
                  <a:srgbClr val="5B6572"/>
                </a:solidFill>
              </a:defRPr>
            </a:pPr>
            <a:r>
              <a:rPr sz="1350" b="0">
                <a:solidFill>
                  <a:srgbClr val="5B6572"/>
                </a:solidFill>
              </a:rPr>
              <a:t>File added:</a:t>
            </a:r>
          </a:p>
          <a:p>
            <a:pPr algn="l">
              <a:defRPr sz="1350" b="0">
                <a:solidFill>
                  <a:srgbClr val="5B6572"/>
                </a:solidFill>
              </a:defRPr>
            </a:pPr>
            <a:r>
              <a:rPr sz="1350" b="0">
                <a:solidFill>
                  <a:srgbClr val="5B6572"/>
                </a:solidFill>
              </a:rPr>
              <a:t>week04 UI prototype HTML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F9FEBDD-96E7-41CA-AB8C-479657172A0E}"/>
              </a:ext>
            </a:extLst>
          </p:cNvPr>
          <p:cNvSpPr>
            <a:spLocks noGrp="1"/>
          </p:cNvSpPr>
          <p:nvPr/>
        </p:nvSpPr>
        <p:spPr>
          <a:xfrm>
            <a:off x="4953000" y="2000250"/>
            <a:ext cx="5619750" cy="3143250"/>
          </a:xfrm>
          <a:prstGeom prst="roundRect">
            <a:avLst>
              <a:gd name="adj" fmla="val 2424"/>
            </a:avLst>
          </a:prstGeom>
          <a:solidFill>
            <a:srgbClr val="F7F8F6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733737-230B-40F7-B31E-F3C0C33E388E}"/>
              </a:ext>
            </a:extLst>
          </p:cNvPr>
          <p:cNvSpPr>
            <a:spLocks noGrp="1"/>
          </p:cNvSpPr>
          <p:nvPr/>
        </p:nvSpPr>
        <p:spPr>
          <a:xfrm>
            <a:off x="4953000" y="2000250"/>
            <a:ext cx="5619750" cy="419100"/>
          </a:xfrm>
          <a:prstGeom prst="rect">
            <a:avLst/>
          </a:prstGeom>
          <a:solidFill>
            <a:srgbClr val="2E6B3E"/>
          </a:solidFill>
          <a:ln w="0">
            <a:solidFill>
              <a:srgbClr val="2E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12B19-E942-4093-90A6-E27A58828405}"/>
              </a:ext>
            </a:extLst>
          </p:cNvPr>
          <p:cNvSpPr>
            <a:spLocks noGrp="1"/>
          </p:cNvSpPr>
          <p:nvPr/>
        </p:nvSpPr>
        <p:spPr>
          <a:xfrm>
            <a:off x="5162550" y="2114550"/>
            <a:ext cx="485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Goal Selector → HEV Workflow → Data Quality Checks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F636FFC-9972-4A66-95EB-729DEECC2EB3}"/>
              </a:ext>
            </a:extLst>
          </p:cNvPr>
          <p:cNvSpPr>
            <a:spLocks noGrp="1"/>
          </p:cNvSpPr>
          <p:nvPr/>
        </p:nvSpPr>
        <p:spPr>
          <a:xfrm>
            <a:off x="5238750" y="2714624"/>
            <a:ext cx="2190750" cy="839971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55E727-E8B6-4DF4-BF23-4A8A5588B241}"/>
              </a:ext>
            </a:extLst>
          </p:cNvPr>
          <p:cNvSpPr>
            <a:spLocks noGrp="1"/>
          </p:cNvSpPr>
          <p:nvPr/>
        </p:nvSpPr>
        <p:spPr>
          <a:xfrm>
            <a:off x="5372100" y="28384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Goal Selector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E45518-B5E7-44BB-95E5-EE1396103661}"/>
              </a:ext>
            </a:extLst>
          </p:cNvPr>
          <p:cNvSpPr>
            <a:spLocks noGrp="1"/>
          </p:cNvSpPr>
          <p:nvPr/>
        </p:nvSpPr>
        <p:spPr>
          <a:xfrm>
            <a:off x="5372100" y="309562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572"/>
                </a:solidFill>
              </a:defRPr>
            </a:pPr>
            <a:r>
              <a:rPr sz="975" b="0">
                <a:solidFill>
                  <a:srgbClr val="5B6572"/>
                </a:solidFill>
              </a:rPr>
              <a:t>Choose output first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54B8F07-C3D8-44EA-A455-FFD09DD1FFE1}"/>
              </a:ext>
            </a:extLst>
          </p:cNvPr>
          <p:cNvSpPr>
            <a:spLocks noGrp="1"/>
          </p:cNvSpPr>
          <p:nvPr/>
        </p:nvSpPr>
        <p:spPr>
          <a:xfrm>
            <a:off x="7762875" y="2714624"/>
            <a:ext cx="2190750" cy="839971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1D74F3-F823-4886-B044-99DA54997385}"/>
              </a:ext>
            </a:extLst>
          </p:cNvPr>
          <p:cNvSpPr>
            <a:spLocks noGrp="1"/>
          </p:cNvSpPr>
          <p:nvPr/>
        </p:nvSpPr>
        <p:spPr>
          <a:xfrm>
            <a:off x="7896225" y="28384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Import 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1E4AF1-D028-4B7B-8685-6269C5D19D50}"/>
              </a:ext>
            </a:extLst>
          </p:cNvPr>
          <p:cNvSpPr>
            <a:spLocks noGrp="1"/>
          </p:cNvSpPr>
          <p:nvPr/>
        </p:nvSpPr>
        <p:spPr>
          <a:xfrm>
            <a:off x="7896225" y="3095624"/>
            <a:ext cx="1809750" cy="2363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572"/>
                </a:solidFill>
              </a:defRPr>
            </a:pPr>
            <a:r>
              <a:rPr sz="975" b="0" dirty="0">
                <a:solidFill>
                  <a:srgbClr val="5B6572"/>
                </a:solidFill>
              </a:rPr>
              <a:t>Biology, environment, flow, WQ, RHS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08BFA2F-D5A0-4457-8F6D-1D0945FB6388}"/>
              </a:ext>
            </a:extLst>
          </p:cNvPr>
          <p:cNvSpPr>
            <a:spLocks noGrp="1"/>
          </p:cNvSpPr>
          <p:nvPr/>
        </p:nvSpPr>
        <p:spPr>
          <a:xfrm>
            <a:off x="5238750" y="3741554"/>
            <a:ext cx="2190750" cy="839971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C610C2-73F4-4287-B7F3-71DBF74712AA}"/>
              </a:ext>
            </a:extLst>
          </p:cNvPr>
          <p:cNvSpPr>
            <a:spLocks noGrp="1"/>
          </p:cNvSpPr>
          <p:nvPr/>
        </p:nvSpPr>
        <p:spPr>
          <a:xfrm>
            <a:off x="5372100" y="386538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Checkpoints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C55D6F-0F4D-4D52-AE3F-32D24AD169F3}"/>
              </a:ext>
            </a:extLst>
          </p:cNvPr>
          <p:cNvSpPr>
            <a:spLocks noGrp="1"/>
          </p:cNvSpPr>
          <p:nvPr/>
        </p:nvSpPr>
        <p:spPr>
          <a:xfrm>
            <a:off x="5372100" y="412255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572"/>
                </a:solidFill>
              </a:defRPr>
            </a:pPr>
            <a:r>
              <a:rPr sz="975" b="0">
                <a:solidFill>
                  <a:srgbClr val="5B6572"/>
                </a:solidFill>
              </a:rPr>
              <a:t>Pass, warning, error states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FCA7CD5-3912-4534-B712-52922AAC6817}"/>
              </a:ext>
            </a:extLst>
          </p:cNvPr>
          <p:cNvSpPr>
            <a:spLocks noGrp="1"/>
          </p:cNvSpPr>
          <p:nvPr/>
        </p:nvSpPr>
        <p:spPr>
          <a:xfrm>
            <a:off x="7762875" y="3741554"/>
            <a:ext cx="2190750" cy="839971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79E43D-9E3C-4F48-8807-A9BB8F8B84B8}"/>
              </a:ext>
            </a:extLst>
          </p:cNvPr>
          <p:cNvSpPr>
            <a:spLocks noGrp="1"/>
          </p:cNvSpPr>
          <p:nvPr/>
        </p:nvSpPr>
        <p:spPr>
          <a:xfrm>
            <a:off x="7896225" y="386538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Locked Output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847A96-DFFA-4A47-98CF-32E2621C2612}"/>
              </a:ext>
            </a:extLst>
          </p:cNvPr>
          <p:cNvSpPr>
            <a:spLocks noGrp="1"/>
          </p:cNvSpPr>
          <p:nvPr/>
        </p:nvSpPr>
        <p:spPr>
          <a:xfrm>
            <a:off x="7896225" y="412255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572"/>
                </a:solidFill>
              </a:defRPr>
            </a:pPr>
            <a:r>
              <a:rPr sz="975" b="0">
                <a:solidFill>
                  <a:srgbClr val="5B6572"/>
                </a:solidFill>
              </a:rPr>
              <a:t>Explain what blocks HEV generation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3E5527-AFC8-4FFF-BBA2-2C701C7CB80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E6B3E"/>
                </a:solidFill>
              </a:defRPr>
            </a:pPr>
            <a:r>
              <a:rPr sz="1800" b="1">
                <a:solidFill>
                  <a:srgbClr val="2E6B3E"/>
                </a:solidFill>
              </a:rPr>
              <a:t>Value: provides a shared UI target before implementation starts.</a:t>
            </a:r>
          </a:p>
        </p:txBody>
      </p:sp>
    </p:spTree>
    <p:extLst>
      <p:ext uri="{BB962C8B-B14F-4D97-AF65-F5344CB8AC3E}">
        <p14:creationId xmlns:p14="http://schemas.microsoft.com/office/powerpoint/2010/main" val="29500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60519F4-866C-45B1-9F35-9FA5054A68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D8A943-9113-429B-A79D-72E4D2919C59}"/>
              </a:ext>
            </a:extLst>
          </p:cNvPr>
          <p:cNvSpPr>
            <a:spLocks noGrp="1"/>
          </p:cNvSpPr>
          <p:nvPr/>
        </p:nvSpPr>
        <p:spPr>
          <a:xfrm>
            <a:off x="400050" y="1619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HE Toolkit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B3153B-4427-4CCE-B277-331B7687859E}"/>
              </a:ext>
            </a:extLst>
          </p:cNvPr>
          <p:cNvSpPr>
            <a:spLocks noGrp="1"/>
          </p:cNvSpPr>
          <p:nvPr/>
        </p:nvSpPr>
        <p:spPr>
          <a:xfrm>
            <a:off x="9906000" y="171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DDEADC"/>
                </a:solidFill>
              </a:defRPr>
            </a:pPr>
            <a:r>
              <a:rPr sz="1050" b="0">
                <a:solidFill>
                  <a:srgbClr val="DDEADC"/>
                </a:solidFill>
              </a:rPr>
              <a:t>Week 4 Progress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923DE4-C387-4CAD-860D-447EA4B8C2A4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F2933"/>
                </a:solidFill>
              </a:defRPr>
            </a:pPr>
            <a:r>
              <a:rPr lang="en-US" altLang="zh-CN" sz="2850" b="1" dirty="0">
                <a:solidFill>
                  <a:srgbClr val="1F2933"/>
                </a:solidFill>
              </a:rPr>
              <a:t>H</a:t>
            </a:r>
            <a:r>
              <a:rPr sz="2850" b="1" dirty="0">
                <a:solidFill>
                  <a:srgbClr val="1F2933"/>
                </a:solidFill>
              </a:rPr>
              <a:t>igh-level test plan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669B1-2AE9-4D13-BFD2-6451A3B44EA1}"/>
              </a:ext>
            </a:extLst>
          </p:cNvPr>
          <p:cNvSpPr>
            <a:spLocks noGrp="1"/>
          </p:cNvSpPr>
          <p:nvPr/>
        </p:nvSpPr>
        <p:spPr>
          <a:xfrm>
            <a:off x="419100" y="13239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572"/>
                </a:solidFill>
              </a:defRPr>
            </a:pPr>
            <a:r>
              <a:rPr sz="1350" b="0">
                <a:solidFill>
                  <a:srgbClr val="5B6572"/>
                </a:solidFill>
              </a:rPr>
              <a:t>PR #9 makes the new workflow testable through clear strategy and acceptance criteria.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7D08AD-18C3-4887-A8B7-0078433C3149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B6572"/>
                </a:solidFill>
              </a:defRPr>
            </a:pPr>
            <a:r>
              <a:rPr sz="1050" b="0">
                <a:solidFill>
                  <a:srgbClr val="5B6572"/>
                </a:solidFill>
              </a:rPr>
              <a:t>07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B7745F5-C0FD-44AA-B83C-16C132FAD2B2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3429000" cy="3143250"/>
          </a:xfrm>
          <a:prstGeom prst="roundRect">
            <a:avLst>
              <a:gd name="adj" fmla="val 2424"/>
            </a:avLst>
          </a:prstGeom>
          <a:solidFill>
            <a:srgbClr val="E8F5EA"/>
          </a:solidFill>
          <a:ln w="9525">
            <a:solidFill>
              <a:srgbClr val="A7C9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ED1512-4F4C-413D-A948-260D3A8E53CC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E6B3E"/>
                </a:solidFill>
              </a:defRPr>
            </a:pPr>
            <a:r>
              <a:rPr sz="1500" b="1">
                <a:solidFill>
                  <a:srgbClr val="2E6B3E"/>
                </a:solidFill>
              </a:rPr>
              <a:t>PR #9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436CEA-5997-4C44-AD34-8F0B91DAB941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308610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572"/>
                </a:solidFill>
              </a:defRPr>
            </a:pPr>
            <a:r>
              <a:rPr sz="1275" b="0">
                <a:solidFill>
                  <a:srgbClr val="5B6572"/>
                </a:solidFill>
              </a:rPr>
              <a:t>Adds the high-level dashboard test plan and optional AI-assisted analysis testing notes.</a:t>
            </a:r>
          </a:p>
          <a:p>
            <a:endParaRPr sz="1275" b="0">
              <a:solidFill>
                <a:srgbClr val="5B6572"/>
              </a:solidFill>
            </a:endParaRPr>
          </a:p>
          <a:p>
            <a:pPr algn="l">
              <a:defRPr sz="1275" b="0">
                <a:solidFill>
                  <a:srgbClr val="5B6572"/>
                </a:solidFill>
              </a:defRPr>
            </a:pPr>
            <a:r>
              <a:rPr sz="1275" b="0">
                <a:solidFill>
                  <a:srgbClr val="5B6572"/>
                </a:solidFill>
              </a:rPr>
              <a:t>Focus: task-oriented workflow, validation, usability, and user-acceptance evidence.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7D3799-0F42-4D63-BE12-6E2AD06D49AE}"/>
              </a:ext>
            </a:extLst>
          </p:cNvPr>
          <p:cNvSpPr>
            <a:spLocks noGrp="1"/>
          </p:cNvSpPr>
          <p:nvPr/>
        </p:nvSpPr>
        <p:spPr>
          <a:xfrm>
            <a:off x="4762500" y="20002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F2933"/>
                </a:solidFill>
              </a:defRPr>
            </a:pPr>
            <a:r>
              <a:rPr sz="1950" b="1">
                <a:solidFill>
                  <a:srgbClr val="1F2933"/>
                </a:solidFill>
              </a:rPr>
              <a:t>Testing coverage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7CCFEB7-3D31-45EB-ABE3-52E459876834}"/>
              </a:ext>
            </a:extLst>
          </p:cNvPr>
          <p:cNvSpPr>
            <a:spLocks noGrp="1"/>
          </p:cNvSpPr>
          <p:nvPr/>
        </p:nvSpPr>
        <p:spPr>
          <a:xfrm>
            <a:off x="4762500" y="2571750"/>
            <a:ext cx="1619250" cy="304800"/>
          </a:xfrm>
          <a:prstGeom prst="roundRect">
            <a:avLst>
              <a:gd name="adj" fmla="val 50000"/>
            </a:avLst>
          </a:prstGeom>
          <a:solidFill>
            <a:srgbClr val="E8F5EA"/>
          </a:solidFill>
          <a:ln w="9525">
            <a:solidFill>
              <a:srgbClr val="2E6B3E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22E76-12F6-40C2-8D95-2ED0641777FE}"/>
              </a:ext>
            </a:extLst>
          </p:cNvPr>
          <p:cNvSpPr>
            <a:spLocks noGrp="1"/>
          </p:cNvSpPr>
          <p:nvPr/>
        </p:nvSpPr>
        <p:spPr>
          <a:xfrm>
            <a:off x="4838700" y="263842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E6B3E"/>
                </a:solidFill>
              </a:defRPr>
            </a:pPr>
            <a:r>
              <a:rPr sz="975" b="1">
                <a:solidFill>
                  <a:srgbClr val="2E6B3E"/>
                </a:solidFill>
              </a:rPr>
              <a:t>Functional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C22083-72BB-470B-8F43-25F876158492}"/>
              </a:ext>
            </a:extLst>
          </p:cNvPr>
          <p:cNvSpPr>
            <a:spLocks noGrp="1"/>
          </p:cNvSpPr>
          <p:nvPr/>
        </p:nvSpPr>
        <p:spPr>
          <a:xfrm>
            <a:off x="6715125" y="2571750"/>
            <a:ext cx="1619250" cy="304800"/>
          </a:xfrm>
          <a:prstGeom prst="roundRect">
            <a:avLst>
              <a:gd name="adj" fmla="val 50000"/>
            </a:avLst>
          </a:prstGeom>
          <a:solidFill>
            <a:srgbClr val="E8F5EA"/>
          </a:solidFill>
          <a:ln w="9525">
            <a:solidFill>
              <a:srgbClr val="2E6B3E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8FCA65-F275-44EE-AE17-AB8F89BE1A21}"/>
              </a:ext>
            </a:extLst>
          </p:cNvPr>
          <p:cNvSpPr>
            <a:spLocks noGrp="1"/>
          </p:cNvSpPr>
          <p:nvPr/>
        </p:nvSpPr>
        <p:spPr>
          <a:xfrm>
            <a:off x="6791325" y="263842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E6B3E"/>
                </a:solidFill>
              </a:defRPr>
            </a:pPr>
            <a:r>
              <a:rPr sz="975" b="1">
                <a:solidFill>
                  <a:srgbClr val="2E6B3E"/>
                </a:solidFill>
              </a:rPr>
              <a:t>Negative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687BD14-C295-41A6-B1AC-4757E58EDB54}"/>
              </a:ext>
            </a:extLst>
          </p:cNvPr>
          <p:cNvSpPr>
            <a:spLocks noGrp="1"/>
          </p:cNvSpPr>
          <p:nvPr/>
        </p:nvSpPr>
        <p:spPr>
          <a:xfrm>
            <a:off x="8667750" y="2571750"/>
            <a:ext cx="1619250" cy="304800"/>
          </a:xfrm>
          <a:prstGeom prst="roundRect">
            <a:avLst>
              <a:gd name="adj" fmla="val 50000"/>
            </a:avLst>
          </a:prstGeom>
          <a:solidFill>
            <a:srgbClr val="E8F5EA"/>
          </a:solidFill>
          <a:ln w="9525">
            <a:solidFill>
              <a:srgbClr val="2E6B3E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0A00D4-CF5E-43DE-A47A-649FD74F9CC2}"/>
              </a:ext>
            </a:extLst>
          </p:cNvPr>
          <p:cNvSpPr>
            <a:spLocks noGrp="1"/>
          </p:cNvSpPr>
          <p:nvPr/>
        </p:nvSpPr>
        <p:spPr>
          <a:xfrm>
            <a:off x="8743950" y="263842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E6B3E"/>
                </a:solidFill>
              </a:defRPr>
            </a:pPr>
            <a:r>
              <a:rPr sz="975" b="1">
                <a:solidFill>
                  <a:srgbClr val="2E6B3E"/>
                </a:solidFill>
              </a:rPr>
              <a:t>Boundary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CBB7446-1137-43EA-AF6B-80A0C89EA4D8}"/>
              </a:ext>
            </a:extLst>
          </p:cNvPr>
          <p:cNvSpPr>
            <a:spLocks noGrp="1"/>
          </p:cNvSpPr>
          <p:nvPr/>
        </p:nvSpPr>
        <p:spPr>
          <a:xfrm>
            <a:off x="4762500" y="3124200"/>
            <a:ext cx="1619250" cy="304800"/>
          </a:xfrm>
          <a:prstGeom prst="roundRect">
            <a:avLst>
              <a:gd name="adj" fmla="val 50000"/>
            </a:avLst>
          </a:prstGeom>
          <a:solidFill>
            <a:srgbClr val="E8F5EA"/>
          </a:solidFill>
          <a:ln w="9525">
            <a:solidFill>
              <a:srgbClr val="2E6B3E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928CE3-C0E9-4357-AD77-9C38C76DA23B}"/>
              </a:ext>
            </a:extLst>
          </p:cNvPr>
          <p:cNvSpPr>
            <a:spLocks noGrp="1"/>
          </p:cNvSpPr>
          <p:nvPr/>
        </p:nvSpPr>
        <p:spPr>
          <a:xfrm>
            <a:off x="4838700" y="319087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E6B3E"/>
                </a:solidFill>
              </a:defRPr>
            </a:pPr>
            <a:r>
              <a:rPr sz="975" b="1">
                <a:solidFill>
                  <a:srgbClr val="2E6B3E"/>
                </a:solidFill>
              </a:rPr>
              <a:t>Integration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685634C-D574-43CF-B96F-9EC23CDD8A33}"/>
              </a:ext>
            </a:extLst>
          </p:cNvPr>
          <p:cNvSpPr>
            <a:spLocks noGrp="1"/>
          </p:cNvSpPr>
          <p:nvPr/>
        </p:nvSpPr>
        <p:spPr>
          <a:xfrm>
            <a:off x="6715125" y="3124200"/>
            <a:ext cx="1619250" cy="304800"/>
          </a:xfrm>
          <a:prstGeom prst="roundRect">
            <a:avLst>
              <a:gd name="adj" fmla="val 50000"/>
            </a:avLst>
          </a:prstGeom>
          <a:solidFill>
            <a:srgbClr val="E8F5EA"/>
          </a:solidFill>
          <a:ln w="9525">
            <a:solidFill>
              <a:srgbClr val="2E6B3E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4F995F-5CB9-4095-A971-CAA3F95AF8AD}"/>
              </a:ext>
            </a:extLst>
          </p:cNvPr>
          <p:cNvSpPr>
            <a:spLocks noGrp="1"/>
          </p:cNvSpPr>
          <p:nvPr/>
        </p:nvSpPr>
        <p:spPr>
          <a:xfrm>
            <a:off x="6791325" y="319087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E6B3E"/>
                </a:solidFill>
              </a:defRPr>
            </a:pPr>
            <a:r>
              <a:rPr sz="975" b="1">
                <a:solidFill>
                  <a:srgbClr val="2E6B3E"/>
                </a:solidFill>
              </a:rPr>
              <a:t>Regression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66BFAB2-FFA3-4230-BFE3-14807E7C3E8F}"/>
              </a:ext>
            </a:extLst>
          </p:cNvPr>
          <p:cNvSpPr>
            <a:spLocks noGrp="1"/>
          </p:cNvSpPr>
          <p:nvPr/>
        </p:nvSpPr>
        <p:spPr>
          <a:xfrm>
            <a:off x="8667750" y="3124200"/>
            <a:ext cx="1619250" cy="304800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9525">
            <a:solidFill>
              <a:srgbClr val="2E5EAA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C26E42-ECBF-4857-877F-968D4D4D7A62}"/>
              </a:ext>
            </a:extLst>
          </p:cNvPr>
          <p:cNvSpPr>
            <a:spLocks noGrp="1"/>
          </p:cNvSpPr>
          <p:nvPr/>
        </p:nvSpPr>
        <p:spPr>
          <a:xfrm>
            <a:off x="8743950" y="319087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E5EAA"/>
                </a:solidFill>
              </a:defRPr>
            </a:pPr>
            <a:r>
              <a:rPr sz="975" b="1">
                <a:solidFill>
                  <a:srgbClr val="2E5EAA"/>
                </a:solidFill>
              </a:rPr>
              <a:t>Compatibility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53B9CA6-C650-46E4-BB78-E453E6061FA3}"/>
              </a:ext>
            </a:extLst>
          </p:cNvPr>
          <p:cNvSpPr>
            <a:spLocks noGrp="1"/>
          </p:cNvSpPr>
          <p:nvPr/>
        </p:nvSpPr>
        <p:spPr>
          <a:xfrm>
            <a:off x="4762500" y="3676650"/>
            <a:ext cx="1619250" cy="304800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9525">
            <a:solidFill>
              <a:srgbClr val="2E5EAA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C23343-EFF8-4F89-8162-007637612E3A}"/>
              </a:ext>
            </a:extLst>
          </p:cNvPr>
          <p:cNvSpPr>
            <a:spLocks noGrp="1"/>
          </p:cNvSpPr>
          <p:nvPr/>
        </p:nvSpPr>
        <p:spPr>
          <a:xfrm>
            <a:off x="4838700" y="374332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E5EAA"/>
                </a:solidFill>
              </a:defRPr>
            </a:pPr>
            <a:r>
              <a:rPr sz="975" b="1">
                <a:solidFill>
                  <a:srgbClr val="2E5EAA"/>
                </a:solidFill>
              </a:rPr>
              <a:t>Performance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DD5ADE1-2641-4191-9A9B-0076B15D0DAE}"/>
              </a:ext>
            </a:extLst>
          </p:cNvPr>
          <p:cNvSpPr>
            <a:spLocks noGrp="1"/>
          </p:cNvSpPr>
          <p:nvPr/>
        </p:nvSpPr>
        <p:spPr>
          <a:xfrm>
            <a:off x="6715125" y="3676650"/>
            <a:ext cx="1619250" cy="304800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9525">
            <a:solidFill>
              <a:srgbClr val="2E5EAA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81CCAA-7335-4C27-9960-A84D1C60D820}"/>
              </a:ext>
            </a:extLst>
          </p:cNvPr>
          <p:cNvSpPr>
            <a:spLocks noGrp="1"/>
          </p:cNvSpPr>
          <p:nvPr/>
        </p:nvSpPr>
        <p:spPr>
          <a:xfrm>
            <a:off x="6791325" y="374332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E5EAA"/>
                </a:solidFill>
              </a:defRPr>
            </a:pPr>
            <a:r>
              <a:rPr sz="975" b="1">
                <a:solidFill>
                  <a:srgbClr val="2E5EAA"/>
                </a:solidFill>
              </a:rPr>
              <a:t>Usability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5672EE1-F326-4F50-B861-19A6EB2B8A8B}"/>
              </a:ext>
            </a:extLst>
          </p:cNvPr>
          <p:cNvSpPr>
            <a:spLocks noGrp="1"/>
          </p:cNvSpPr>
          <p:nvPr/>
        </p:nvSpPr>
        <p:spPr>
          <a:xfrm>
            <a:off x="8667750" y="3676650"/>
            <a:ext cx="1619250" cy="304800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9525">
            <a:solidFill>
              <a:srgbClr val="2E5EAA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49EC82-42BF-422F-89AE-E6E9F994ED11}"/>
              </a:ext>
            </a:extLst>
          </p:cNvPr>
          <p:cNvSpPr>
            <a:spLocks noGrp="1"/>
          </p:cNvSpPr>
          <p:nvPr/>
        </p:nvSpPr>
        <p:spPr>
          <a:xfrm>
            <a:off x="8743950" y="374332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E5EAA"/>
                </a:solidFill>
              </a:defRPr>
            </a:pPr>
            <a:r>
              <a:rPr sz="975" b="1">
                <a:solidFill>
                  <a:srgbClr val="2E5EAA"/>
                </a:solidFill>
              </a:rPr>
              <a:t>User acceptance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A4D7C4-EB3E-4EB4-A4DD-6F80002630AA}"/>
              </a:ext>
            </a:extLst>
          </p:cNvPr>
          <p:cNvSpPr>
            <a:spLocks noGrp="1"/>
          </p:cNvSpPr>
          <p:nvPr/>
        </p:nvSpPr>
        <p:spPr>
          <a:xfrm>
            <a:off x="4762500" y="471487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2933"/>
                </a:solidFill>
              </a:defRPr>
            </a:pPr>
            <a:r>
              <a:rPr sz="1800" b="1">
                <a:solidFill>
                  <a:srgbClr val="1F2933"/>
                </a:solidFill>
              </a:rPr>
              <a:t>Six core task areas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DDE890-F281-4D22-A88D-D6E5448E2BF5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572"/>
                </a:solidFill>
              </a:defRPr>
            </a:pPr>
            <a:r>
              <a:rPr sz="1350" b="0">
                <a:solidFill>
                  <a:srgbClr val="5B6572"/>
                </a:solidFill>
              </a:rPr>
              <a:t>Prepare Data · Check Data Quality · Fill Missing Flow Data · Explore Biology-Flow Relationships · Create HEV Plot · Export Report</a:t>
            </a:r>
          </a:p>
        </p:txBody>
      </p:sp>
    </p:spTree>
    <p:extLst>
      <p:ext uri="{BB962C8B-B14F-4D97-AF65-F5344CB8AC3E}">
        <p14:creationId xmlns:p14="http://schemas.microsoft.com/office/powerpoint/2010/main" val="1297099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ADFFDC1-27CA-4574-9952-BF981482AF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AE3860-8593-4562-A5E9-A23F4124F2F7}"/>
              </a:ext>
            </a:extLst>
          </p:cNvPr>
          <p:cNvSpPr>
            <a:spLocks noGrp="1"/>
          </p:cNvSpPr>
          <p:nvPr/>
        </p:nvSpPr>
        <p:spPr>
          <a:xfrm>
            <a:off x="400050" y="1619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HE Toolkit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F0B068-CF04-4D72-8B64-2C0AE33201CB}"/>
              </a:ext>
            </a:extLst>
          </p:cNvPr>
          <p:cNvSpPr>
            <a:spLocks noGrp="1"/>
          </p:cNvSpPr>
          <p:nvPr/>
        </p:nvSpPr>
        <p:spPr>
          <a:xfrm>
            <a:off x="9906000" y="171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DDEADC"/>
                </a:solidFill>
              </a:defRPr>
            </a:pPr>
            <a:r>
              <a:rPr sz="1050" b="0">
                <a:solidFill>
                  <a:srgbClr val="DDEADC"/>
                </a:solidFill>
              </a:rPr>
              <a:t>Week 4 Progress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83B345-0BEB-4F65-8FAB-C8A5F61D1B58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User testing plan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61878D-6CD0-4987-88C8-654F8FA2C456}"/>
              </a:ext>
            </a:extLst>
          </p:cNvPr>
          <p:cNvSpPr>
            <a:spLocks noGrp="1"/>
          </p:cNvSpPr>
          <p:nvPr/>
        </p:nvSpPr>
        <p:spPr>
          <a:xfrm>
            <a:off x="419100" y="13239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572"/>
                </a:solidFill>
              </a:defRPr>
            </a:pPr>
            <a:r>
              <a:rPr sz="1350" b="0">
                <a:solidFill>
                  <a:srgbClr val="5B6572"/>
                </a:solidFill>
              </a:rPr>
              <a:t>Thomas will help recruit EA/Defra volunteers for feedback-driven refinement.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88D57E-BCAB-4309-A3FB-5A0A040F79F0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B6572"/>
                </a:solidFill>
              </a:defRPr>
            </a:pPr>
            <a:r>
              <a:rPr sz="1050" b="0">
                <a:solidFill>
                  <a:srgbClr val="5B6572"/>
                </a:solidFill>
              </a:rPr>
              <a:t>08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AEDE967-DE29-4166-962A-EBA5006C738B}"/>
              </a:ext>
            </a:extLst>
          </p:cNvPr>
          <p:cNvSpPr>
            <a:spLocks noGrp="1"/>
          </p:cNvSpPr>
          <p:nvPr/>
        </p:nvSpPr>
        <p:spPr>
          <a:xfrm>
            <a:off x="819150" y="2238375"/>
            <a:ext cx="2286000" cy="1428750"/>
          </a:xfrm>
          <a:prstGeom prst="roundRect">
            <a:avLst>
              <a:gd name="adj" fmla="val 5333"/>
            </a:avLst>
          </a:prstGeom>
          <a:solidFill>
            <a:srgbClr val="E8F5EA"/>
          </a:solidFill>
          <a:ln w="9525">
            <a:solidFill>
              <a:srgbClr val="A7C9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E61633-A5FA-494A-B04E-5CBDCC7048D2}"/>
              </a:ext>
            </a:extLst>
          </p:cNvPr>
          <p:cNvSpPr>
            <a:spLocks noGrp="1"/>
          </p:cNvSpPr>
          <p:nvPr/>
        </p:nvSpPr>
        <p:spPr>
          <a:xfrm>
            <a:off x="1238250" y="2438400"/>
            <a:ext cx="1428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0" b="1">
                <a:solidFill>
                  <a:srgbClr val="2E6B3E"/>
                </a:solidFill>
              </a:defRPr>
            </a:pPr>
            <a:r>
              <a:rPr sz="4350" b="1">
                <a:solidFill>
                  <a:srgbClr val="2E6B3E"/>
                </a:solidFill>
              </a:rPr>
              <a:t>3-5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A461B3-A297-4467-82A2-EDED10DF0452}"/>
              </a:ext>
            </a:extLst>
          </p:cNvPr>
          <p:cNvSpPr>
            <a:spLocks noGrp="1"/>
          </p:cNvSpPr>
          <p:nvPr/>
        </p:nvSpPr>
        <p:spPr>
          <a:xfrm>
            <a:off x="1028700" y="3105150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volunteers per round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34B171-AFEA-4C5D-92B4-E21C3FF3BD2D}"/>
              </a:ext>
            </a:extLst>
          </p:cNvPr>
          <p:cNvSpPr>
            <a:spLocks noGrp="1"/>
          </p:cNvSpPr>
          <p:nvPr/>
        </p:nvSpPr>
        <p:spPr>
          <a:xfrm>
            <a:off x="3952875" y="2143125"/>
            <a:ext cx="2857500" cy="1095375"/>
          </a:xfrm>
          <a:prstGeom prst="roundRect">
            <a:avLst>
              <a:gd name="adj" fmla="val 7619"/>
            </a:avLst>
          </a:prstGeom>
          <a:solidFill>
            <a:srgbClr val="F7F8F6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381FC-78F2-441A-901D-8660D78D0ADF}"/>
              </a:ext>
            </a:extLst>
          </p:cNvPr>
          <p:cNvSpPr>
            <a:spLocks noGrp="1"/>
          </p:cNvSpPr>
          <p:nvPr/>
        </p:nvSpPr>
        <p:spPr>
          <a:xfrm>
            <a:off x="4124325" y="229552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Recruit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18B621-04E6-470D-8F13-FE0493AA728D}"/>
              </a:ext>
            </a:extLst>
          </p:cNvPr>
          <p:cNvSpPr>
            <a:spLocks noGrp="1"/>
          </p:cNvSpPr>
          <p:nvPr/>
        </p:nvSpPr>
        <p:spPr>
          <a:xfrm>
            <a:off x="4124325" y="2657475"/>
            <a:ext cx="25146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572"/>
                </a:solidFill>
              </a:defRPr>
            </a:pPr>
            <a:r>
              <a:rPr sz="1125" b="0">
                <a:solidFill>
                  <a:srgbClr val="5B6572"/>
                </a:solidFill>
              </a:rPr>
              <a:t>Thomas helps identify suitable EA/Defra volunteers.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5435D56-1B07-48EA-8540-A600702A04E1}"/>
              </a:ext>
            </a:extLst>
          </p:cNvPr>
          <p:cNvSpPr>
            <a:spLocks noGrp="1"/>
          </p:cNvSpPr>
          <p:nvPr/>
        </p:nvSpPr>
        <p:spPr>
          <a:xfrm>
            <a:off x="7429500" y="2143125"/>
            <a:ext cx="2857500" cy="1095375"/>
          </a:xfrm>
          <a:prstGeom prst="roundRect">
            <a:avLst>
              <a:gd name="adj" fmla="val 7619"/>
            </a:avLst>
          </a:prstGeom>
          <a:solidFill>
            <a:srgbClr val="F7F8F6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7835C0-B17C-4E8B-815B-3C809A010328}"/>
              </a:ext>
            </a:extLst>
          </p:cNvPr>
          <p:cNvSpPr>
            <a:spLocks noGrp="1"/>
          </p:cNvSpPr>
          <p:nvPr/>
        </p:nvSpPr>
        <p:spPr>
          <a:xfrm>
            <a:off x="7600950" y="229552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Observe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1252FC-6D2D-41DE-9733-629EE61552CE}"/>
              </a:ext>
            </a:extLst>
          </p:cNvPr>
          <p:cNvSpPr>
            <a:spLocks noGrp="1"/>
          </p:cNvSpPr>
          <p:nvPr/>
        </p:nvSpPr>
        <p:spPr>
          <a:xfrm>
            <a:off x="7600950" y="2657475"/>
            <a:ext cx="25146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572"/>
                </a:solidFill>
              </a:defRPr>
            </a:pPr>
            <a:r>
              <a:rPr sz="1125" b="0" dirty="0">
                <a:solidFill>
                  <a:srgbClr val="5B6572"/>
                </a:solidFill>
              </a:rPr>
              <a:t>Volunteer</a:t>
            </a:r>
            <a:r>
              <a:rPr lang="en-US" altLang="zh-CN" sz="1125" b="0" dirty="0">
                <a:solidFill>
                  <a:srgbClr val="5B6572"/>
                </a:solidFill>
              </a:rPr>
              <a:t>s</a:t>
            </a:r>
            <a:r>
              <a:rPr sz="1125" b="0" dirty="0">
                <a:solidFill>
                  <a:srgbClr val="5B6572"/>
                </a:solidFill>
              </a:rPr>
              <a:t> complete representative dashboard tasks.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82F3726-9B24-4E2A-8BB5-B8E27E243EFC}"/>
              </a:ext>
            </a:extLst>
          </p:cNvPr>
          <p:cNvSpPr>
            <a:spLocks noGrp="1"/>
          </p:cNvSpPr>
          <p:nvPr/>
        </p:nvSpPr>
        <p:spPr>
          <a:xfrm>
            <a:off x="3952875" y="3571875"/>
            <a:ext cx="2857500" cy="1095375"/>
          </a:xfrm>
          <a:prstGeom prst="roundRect">
            <a:avLst>
              <a:gd name="adj" fmla="val 7619"/>
            </a:avLst>
          </a:prstGeom>
          <a:solidFill>
            <a:srgbClr val="F7F8F6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27A8A8-2E8B-4C8A-9085-7E8A6C1D83FF}"/>
              </a:ext>
            </a:extLst>
          </p:cNvPr>
          <p:cNvSpPr>
            <a:spLocks noGrp="1"/>
          </p:cNvSpPr>
          <p:nvPr/>
        </p:nvSpPr>
        <p:spPr>
          <a:xfrm>
            <a:off x="4124325" y="372427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Collect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9F3AE4-6835-436F-BF18-5A51C4BA0077}"/>
              </a:ext>
            </a:extLst>
          </p:cNvPr>
          <p:cNvSpPr>
            <a:spLocks noGrp="1"/>
          </p:cNvSpPr>
          <p:nvPr/>
        </p:nvSpPr>
        <p:spPr>
          <a:xfrm>
            <a:off x="4124325" y="4086225"/>
            <a:ext cx="25146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572"/>
                </a:solidFill>
              </a:defRPr>
            </a:pPr>
            <a:r>
              <a:rPr sz="1125" b="0">
                <a:solidFill>
                  <a:srgbClr val="5B6572"/>
                </a:solidFill>
              </a:rPr>
              <a:t>Feedback captures confusion, blockers, and comments.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F2F5A97-2055-4509-B3E0-F1B71D8662D4}"/>
              </a:ext>
            </a:extLst>
          </p:cNvPr>
          <p:cNvSpPr>
            <a:spLocks noGrp="1"/>
          </p:cNvSpPr>
          <p:nvPr/>
        </p:nvSpPr>
        <p:spPr>
          <a:xfrm>
            <a:off x="7429500" y="3571875"/>
            <a:ext cx="2857500" cy="1095375"/>
          </a:xfrm>
          <a:prstGeom prst="roundRect">
            <a:avLst>
              <a:gd name="adj" fmla="val 7619"/>
            </a:avLst>
          </a:prstGeom>
          <a:solidFill>
            <a:srgbClr val="F7F8F6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4E1FB-BE96-4D1B-AE6D-2C3C50ED5FBB}"/>
              </a:ext>
            </a:extLst>
          </p:cNvPr>
          <p:cNvSpPr>
            <a:spLocks noGrp="1"/>
          </p:cNvSpPr>
          <p:nvPr/>
        </p:nvSpPr>
        <p:spPr>
          <a:xfrm>
            <a:off x="7600950" y="372427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Refine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C25665-F06E-487B-84EF-28ABA6746142}"/>
              </a:ext>
            </a:extLst>
          </p:cNvPr>
          <p:cNvSpPr>
            <a:spLocks noGrp="1"/>
          </p:cNvSpPr>
          <p:nvPr/>
        </p:nvSpPr>
        <p:spPr>
          <a:xfrm>
            <a:off x="7600950" y="4086225"/>
            <a:ext cx="25146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572"/>
                </a:solidFill>
              </a:defRPr>
            </a:pPr>
            <a:r>
              <a:rPr sz="1125" b="0">
                <a:solidFill>
                  <a:srgbClr val="5B6572"/>
                </a:solidFill>
              </a:rPr>
              <a:t>Team updates workflow, guidance, warnings, and errors.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275D36-6EBF-4B3F-A881-28A0C4F9A595}"/>
              </a:ext>
            </a:extLst>
          </p:cNvPr>
          <p:cNvSpPr>
            <a:spLocks noGrp="1"/>
          </p:cNvSpPr>
          <p:nvPr/>
        </p:nvSpPr>
        <p:spPr>
          <a:xfrm>
            <a:off x="419100" y="5286375"/>
            <a:ext cx="923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E6B3E"/>
                </a:solidFill>
              </a:defRPr>
            </a:pPr>
            <a:r>
              <a:rPr sz="1725" b="1" dirty="0">
                <a:solidFill>
                  <a:srgbClr val="2E6B3E"/>
                </a:solidFill>
              </a:rPr>
              <a:t>Purpose: validate usability for non-programming users before treating the workflow as final.</a:t>
            </a:r>
          </a:p>
        </p:txBody>
      </p:sp>
    </p:spTree>
    <p:extLst>
      <p:ext uri="{BB962C8B-B14F-4D97-AF65-F5344CB8AC3E}">
        <p14:creationId xmlns:p14="http://schemas.microsoft.com/office/powerpoint/2010/main" val="559761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65837-6C23-43C6-AFEC-56B06354C1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EDBAE3-71C3-4934-A316-970D7955EC22}"/>
              </a:ext>
            </a:extLst>
          </p:cNvPr>
          <p:cNvSpPr>
            <a:spLocks noGrp="1"/>
          </p:cNvSpPr>
          <p:nvPr/>
        </p:nvSpPr>
        <p:spPr>
          <a:xfrm>
            <a:off x="400050" y="1619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HE Toolkit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FDB371-1183-48A8-9E4B-FFE1EE6642CA}"/>
              </a:ext>
            </a:extLst>
          </p:cNvPr>
          <p:cNvSpPr>
            <a:spLocks noGrp="1"/>
          </p:cNvSpPr>
          <p:nvPr/>
        </p:nvSpPr>
        <p:spPr>
          <a:xfrm>
            <a:off x="9906000" y="171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DDEADC"/>
                </a:solidFill>
              </a:defRPr>
            </a:pPr>
            <a:r>
              <a:rPr sz="1050" b="0">
                <a:solidFill>
                  <a:srgbClr val="DDEADC"/>
                </a:solidFill>
              </a:rPr>
              <a:t>Week 4 Progress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33F1C4-DA23-4328-8F56-1801F2BCCF41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AI scope discussion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12AB7A-1AEC-4068-BBB2-857424F05D4E}"/>
              </a:ext>
            </a:extLst>
          </p:cNvPr>
          <p:cNvSpPr>
            <a:spLocks noGrp="1"/>
          </p:cNvSpPr>
          <p:nvPr/>
        </p:nvSpPr>
        <p:spPr>
          <a:xfrm>
            <a:off x="419100" y="13239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572"/>
                </a:solidFill>
              </a:defRPr>
            </a:pPr>
            <a:r>
              <a:rPr sz="1350" b="0">
                <a:solidFill>
                  <a:srgbClr val="5B6572"/>
                </a:solidFill>
              </a:rPr>
              <a:t>AI is not confirmed scope; it remains a risk and decision item.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05AF17-D3D7-468B-B91F-739283BAAA4F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B6572"/>
                </a:solidFill>
              </a:defRPr>
            </a:pPr>
            <a:r>
              <a:rPr sz="1050" b="0">
                <a:solidFill>
                  <a:srgbClr val="5B6572"/>
                </a:solidFill>
              </a:rPr>
              <a:t>09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76DCFF-34F5-4851-88FB-85FA1A372E24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4572000" cy="2853734"/>
          </a:xfrm>
          <a:prstGeom prst="roundRect">
            <a:avLst>
              <a:gd name="adj" fmla="val 2963"/>
            </a:avLst>
          </a:prstGeom>
          <a:solidFill>
            <a:srgbClr val="FFF1EF"/>
          </a:solidFill>
          <a:ln w="9525">
            <a:solidFill>
              <a:srgbClr val="E6B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290E97-9902-4838-A5BF-C066100FA1C9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B83A2F"/>
                </a:solidFill>
              </a:defRPr>
            </a:pPr>
            <a:r>
              <a:rPr sz="1800" b="1">
                <a:solidFill>
                  <a:srgbClr val="B83A2F"/>
                </a:solidFill>
              </a:rPr>
              <a:t>Concern from Thomas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0C7144-BC0D-4D16-8E01-03FB1B54F987}"/>
              </a:ext>
            </a:extLst>
          </p:cNvPr>
          <p:cNvSpPr>
            <a:spLocks noGrp="1"/>
          </p:cNvSpPr>
          <p:nvPr/>
        </p:nvSpPr>
        <p:spPr>
          <a:xfrm>
            <a:off x="1066799" y="2905125"/>
            <a:ext cx="4015564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2933"/>
                </a:solidFill>
              </a:defRPr>
            </a:pPr>
            <a:r>
              <a:rPr sz="1800" b="1" dirty="0">
                <a:solidFill>
                  <a:srgbClr val="1F2933"/>
                </a:solidFill>
              </a:rPr>
              <a:t>AI-generated interpretation may mislead users, especially when explaining </a:t>
            </a:r>
            <a:r>
              <a:rPr sz="1800" b="1" dirty="0" err="1">
                <a:solidFill>
                  <a:srgbClr val="1F2933"/>
                </a:solidFill>
              </a:rPr>
              <a:t>hydroecolog</a:t>
            </a:r>
            <a:r>
              <a:rPr lang="en-US" altLang="zh-CN" sz="1800" b="1" dirty="0" err="1">
                <a:solidFill>
                  <a:srgbClr val="1F2933"/>
                </a:solidFill>
              </a:rPr>
              <a:t>y</a:t>
            </a:r>
            <a:r>
              <a:rPr sz="1800" b="1" dirty="0">
                <a:solidFill>
                  <a:srgbClr val="1F2933"/>
                </a:solidFill>
              </a:rPr>
              <a:t> model outputs.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818A7E-2BA1-4F30-8D5E-17EA4E1FC9BE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572"/>
                </a:solidFill>
              </a:defRPr>
            </a:pPr>
            <a:r>
              <a:rPr sz="1275" b="0" dirty="0">
                <a:solidFill>
                  <a:srgbClr val="5B6572"/>
                </a:solidFill>
              </a:rPr>
              <a:t>This risk affects trust, scientific interpretation, and scope control.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D592A0C-4B8E-4C16-8AD1-9CA7A1118D3F}"/>
              </a:ext>
            </a:extLst>
          </p:cNvPr>
          <p:cNvSpPr>
            <a:spLocks noGrp="1"/>
          </p:cNvSpPr>
          <p:nvPr/>
        </p:nvSpPr>
        <p:spPr>
          <a:xfrm>
            <a:off x="6191250" y="2047875"/>
            <a:ext cx="4476750" cy="2853734"/>
          </a:xfrm>
          <a:prstGeom prst="roundRect">
            <a:avLst>
              <a:gd name="adj" fmla="val 2963"/>
            </a:avLst>
          </a:prstGeom>
          <a:solidFill>
            <a:srgbClr val="F7F8F6"/>
          </a:solidFill>
          <a:ln w="9525">
            <a:solidFill>
              <a:srgbClr val="CBD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C4F19E-F661-4A5B-BB10-0885AD07927A}"/>
              </a:ext>
            </a:extLst>
          </p:cNvPr>
          <p:cNvSpPr>
            <a:spLocks noGrp="1"/>
          </p:cNvSpPr>
          <p:nvPr/>
        </p:nvSpPr>
        <p:spPr>
          <a:xfrm>
            <a:off x="6496050" y="23431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2933"/>
                </a:solidFill>
              </a:defRPr>
            </a:pPr>
            <a:r>
              <a:rPr sz="1800" b="1">
                <a:solidFill>
                  <a:srgbClr val="1F2933"/>
                </a:solidFill>
              </a:rPr>
              <a:t>Discussion question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47F9E4-D076-472A-9B1F-35D338C60911}"/>
              </a:ext>
            </a:extLst>
          </p:cNvPr>
          <p:cNvSpPr>
            <a:spLocks noGrp="1"/>
          </p:cNvSpPr>
          <p:nvPr/>
        </p:nvSpPr>
        <p:spPr>
          <a:xfrm>
            <a:off x="6496049" y="2905125"/>
            <a:ext cx="3881327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2933"/>
                </a:solidFill>
              </a:defRPr>
            </a:pPr>
            <a:r>
              <a:rPr sz="1800" b="1" dirty="0">
                <a:solidFill>
                  <a:srgbClr val="1F2933"/>
                </a:solidFill>
              </a:rPr>
              <a:t>Remove AI completely from scope, or keep it only as a clearly labelled optional stretch objective?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BD524-0DA0-4613-B8EA-F3344C9CAFE8}"/>
              </a:ext>
            </a:extLst>
          </p:cNvPr>
          <p:cNvSpPr>
            <a:spLocks noGrp="1"/>
          </p:cNvSpPr>
          <p:nvPr/>
        </p:nvSpPr>
        <p:spPr>
          <a:xfrm>
            <a:off x="6496050" y="4000500"/>
            <a:ext cx="388132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E6B3E"/>
                </a:solidFill>
              </a:defRPr>
            </a:pPr>
            <a:endParaRPr sz="1275" b="1" dirty="0">
              <a:solidFill>
                <a:srgbClr val="2E6B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721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25E0EC6-75BB-4C44-A3F0-FB0EB54381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EEB2B6-A2CC-4770-847A-3FE7BBF9985E}"/>
              </a:ext>
            </a:extLst>
          </p:cNvPr>
          <p:cNvSpPr>
            <a:spLocks noGrp="1"/>
          </p:cNvSpPr>
          <p:nvPr/>
        </p:nvSpPr>
        <p:spPr>
          <a:xfrm>
            <a:off x="400050" y="1619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HE Toolkit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94D36B-81AD-421E-A284-67C850F5420F}"/>
              </a:ext>
            </a:extLst>
          </p:cNvPr>
          <p:cNvSpPr>
            <a:spLocks noGrp="1"/>
          </p:cNvSpPr>
          <p:nvPr/>
        </p:nvSpPr>
        <p:spPr>
          <a:xfrm>
            <a:off x="9906000" y="171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DDEADC"/>
                </a:solidFill>
              </a:defRPr>
            </a:pPr>
            <a:r>
              <a:rPr sz="1050" b="0">
                <a:solidFill>
                  <a:srgbClr val="DDEADC"/>
                </a:solidFill>
              </a:rPr>
              <a:t>Week 4 Progress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C7522E-C8F0-49C2-9F08-F5A291E85466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Next steps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8041B2-467A-4BA4-9B23-8411E045E36A}"/>
              </a:ext>
            </a:extLst>
          </p:cNvPr>
          <p:cNvSpPr>
            <a:spLocks noGrp="1"/>
          </p:cNvSpPr>
          <p:nvPr/>
        </p:nvSpPr>
        <p:spPr>
          <a:xfrm>
            <a:off x="419100" y="13239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572"/>
                </a:solidFill>
              </a:defRPr>
            </a:pPr>
            <a:r>
              <a:rPr sz="1350" b="0">
                <a:solidFill>
                  <a:srgbClr val="5B6572"/>
                </a:solidFill>
              </a:rPr>
              <a:t>Turn confirmed direction into implementation tasks, test cases, and user evaluation material.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101656-3C85-4D82-840C-A10039FA57B1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B6572"/>
                </a:solidFill>
              </a:defRPr>
            </a:pPr>
            <a:r>
              <a:rPr sz="1050" b="0">
                <a:solidFill>
                  <a:srgbClr val="5B6572"/>
                </a:solidFill>
              </a:rPr>
              <a:t>10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B66995-C824-4FF6-87CC-6CFE512BD3D1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76200" cy="76200"/>
          </a:xfrm>
          <a:prstGeom prst="ellipse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D595B1-AEAF-4C7E-9D2D-86E89EBA2758}"/>
              </a:ext>
            </a:extLst>
          </p:cNvPr>
          <p:cNvSpPr>
            <a:spLocks noGrp="1"/>
          </p:cNvSpPr>
          <p:nvPr/>
        </p:nvSpPr>
        <p:spPr>
          <a:xfrm>
            <a:off x="1066800" y="2000250"/>
            <a:ext cx="9315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Draw a data dependency map separating the core workflow from optional supporting data.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A2CB8C-0195-4022-9E86-7D618AEF9AF9}"/>
              </a:ext>
            </a:extLst>
          </p:cNvPr>
          <p:cNvSpPr>
            <a:spLocks noGrp="1"/>
          </p:cNvSpPr>
          <p:nvPr/>
        </p:nvSpPr>
        <p:spPr>
          <a:xfrm>
            <a:off x="857250" y="2647950"/>
            <a:ext cx="76200" cy="76200"/>
          </a:xfrm>
          <a:prstGeom prst="ellipse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E76C8D-A61B-4478-80EA-EF1FF6DCCD87}"/>
              </a:ext>
            </a:extLst>
          </p:cNvPr>
          <p:cNvSpPr>
            <a:spLocks noGrp="1"/>
          </p:cNvSpPr>
          <p:nvPr/>
        </p:nvSpPr>
        <p:spPr>
          <a:xfrm>
            <a:off x="1066800" y="2571750"/>
            <a:ext cx="9315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Clarify the O:E ratio workflow: biology + environmental data, with WQ, RHS, and flow as supporting inputs.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7BE1111-D385-4918-960C-733DC17D1019}"/>
              </a:ext>
            </a:extLst>
          </p:cNvPr>
          <p:cNvSpPr>
            <a:spLocks noGrp="1"/>
          </p:cNvSpPr>
          <p:nvPr/>
        </p:nvSpPr>
        <p:spPr>
          <a:xfrm>
            <a:off x="857250" y="3219450"/>
            <a:ext cx="76200" cy="76200"/>
          </a:xfrm>
          <a:prstGeom prst="ellipse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51510E-ED00-4556-AF3F-C1754A3110BC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9315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Design upload templates and data-entry templates for required and optional inputs.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2A99911-44C0-492F-A8EB-B08F1F358D03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76200" cy="76200"/>
          </a:xfrm>
          <a:prstGeom prst="ellipse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C0CE50-444F-48BA-A07E-C27BF4ABAD79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9315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Prepare a warning and error rule list for client confirmation.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D35373D-3DBA-46CD-8504-B4F67A48FA97}"/>
              </a:ext>
            </a:extLst>
          </p:cNvPr>
          <p:cNvSpPr>
            <a:spLocks noGrp="1"/>
          </p:cNvSpPr>
          <p:nvPr/>
        </p:nvSpPr>
        <p:spPr>
          <a:xfrm>
            <a:off x="857250" y="4362450"/>
            <a:ext cx="76200" cy="76200"/>
          </a:xfrm>
          <a:prstGeom prst="ellipse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C31373-28E4-48E2-9360-7BE0A067CD7F}"/>
              </a:ext>
            </a:extLst>
          </p:cNvPr>
          <p:cNvSpPr>
            <a:spLocks noGrp="1"/>
          </p:cNvSpPr>
          <p:nvPr/>
        </p:nvSpPr>
        <p:spPr>
          <a:xfrm>
            <a:off x="1066800" y="4286250"/>
            <a:ext cx="9315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Create 2-3 UI prototypes so the client can compare and choose a direction.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C288D12-11C8-4E1F-AEF8-BDDCF441E4AF}"/>
              </a:ext>
            </a:extLst>
          </p:cNvPr>
          <p:cNvSpPr>
            <a:spLocks noGrp="1"/>
          </p:cNvSpPr>
          <p:nvPr/>
        </p:nvSpPr>
        <p:spPr>
          <a:xfrm>
            <a:off x="857250" y="4933950"/>
            <a:ext cx="76200" cy="76200"/>
          </a:xfrm>
          <a:prstGeom prst="ellipse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6B7DE7-DA9F-4C49-8153-1D8DC017CC86}"/>
              </a:ext>
            </a:extLst>
          </p:cNvPr>
          <p:cNvSpPr>
            <a:spLocks noGrp="1"/>
          </p:cNvSpPr>
          <p:nvPr/>
        </p:nvSpPr>
        <p:spPr>
          <a:xfrm>
            <a:off x="1066800" y="4857750"/>
            <a:ext cx="9315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Evaluate feasibility and quality before committing to implementation.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45C76E-D7C3-467B-B779-839C9E4B68BB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287000" cy="19050"/>
          </a:xfrm>
          <a:prstGeom prst="rect">
            <a:avLst/>
          </a:prstGeom>
          <a:solidFill>
            <a:srgbClr val="2E6B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D12B2C-2698-4480-AA5F-E6F8A6BF410F}"/>
              </a:ext>
            </a:extLst>
          </p:cNvPr>
          <p:cNvSpPr>
            <a:spLocks noGrp="1"/>
          </p:cNvSpPr>
          <p:nvPr/>
        </p:nvSpPr>
        <p:spPr>
          <a:xfrm>
            <a:off x="781050" y="6143625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E6B3E"/>
                </a:solidFill>
              </a:defRPr>
            </a:pPr>
            <a:r>
              <a:rPr sz="1575" b="1">
                <a:solidFill>
                  <a:srgbClr val="2E6B3E"/>
                </a:solidFill>
              </a:rPr>
              <a:t>Supervisor discussion: confirm whether these next-week priorities are complete and correctly ordered.</a:t>
            </a:r>
          </a:p>
        </p:txBody>
      </p:sp>
    </p:spTree>
    <p:extLst>
      <p:ext uri="{BB962C8B-B14F-4D97-AF65-F5344CB8AC3E}">
        <p14:creationId xmlns:p14="http://schemas.microsoft.com/office/powerpoint/2010/main" val="19313585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823</Words>
  <Application>Microsoft Macintosh PowerPoint</Application>
  <DocSecurity>0</DocSecurity>
  <PresentationFormat>Widescreen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Lin Zhu</cp:lastModifiedBy>
  <cp:revision>7</cp:revision>
  <dcterms:created xsi:type="dcterms:W3CDTF">2026-06-29T09:23:37Z</dcterms:created>
  <dcterms:modified xsi:type="dcterms:W3CDTF">2026-06-29T10:45:12Z</dcterms:modified>
</cp:coreProperties>
</file>